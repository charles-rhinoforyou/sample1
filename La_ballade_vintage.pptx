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74" r:id="rId5"/>
    <p:sldId id="258" r:id="rId6"/>
    <p:sldId id="275" r:id="rId7"/>
    <p:sldId id="263" r:id="rId8"/>
    <p:sldId id="267" r:id="rId9"/>
    <p:sldId id="268" r:id="rId10"/>
    <p:sldId id="269" r:id="rId11"/>
    <p:sldId id="270" r:id="rId12"/>
    <p:sldId id="276" r:id="rId13"/>
    <p:sldId id="277" r:id="rId14"/>
    <p:sldId id="280" r:id="rId15"/>
    <p:sldId id="281" r:id="rId16"/>
    <p:sldId id="284" r:id="rId17"/>
    <p:sldId id="282" r:id="rId18"/>
    <p:sldId id="283" r:id="rId19"/>
    <p:sldId id="271"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391853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10330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622574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D142464A-659D-4EEC-8EB0-E58530530DF4}" type="datetimeFigureOut">
              <a:rPr lang="fr-FR" smtClean="0"/>
              <a:t>29/05/2026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1099623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D142464A-659D-4EEC-8EB0-E58530530DF4}" type="datetimeFigureOut">
              <a:rPr lang="fr-FR" smtClean="0"/>
              <a:t>29/05/2026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3947155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D142464A-659D-4EEC-8EB0-E58530530DF4}" type="datetimeFigureOut">
              <a:rPr lang="fr-FR" smtClean="0"/>
              <a:t>29/05/2026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626591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142464A-659D-4EEC-8EB0-E58530530DF4}" type="datetimeFigureOut">
              <a:rPr lang="fr-FR" smtClean="0"/>
              <a:t>29/05/2026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525663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D142464A-659D-4EEC-8EB0-E58530530DF4}" type="datetimeFigureOut">
              <a:rPr lang="fr-FR" smtClean="0"/>
              <a:t>29/05/2026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978435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D142464A-659D-4EEC-8EB0-E58530530DF4}" type="datetimeFigureOut">
              <a:rPr lang="fr-FR" smtClean="0"/>
              <a:t>29/05/2026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1626594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32800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1630649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A58AEE-8420-4659-B1A3-48181DB58D36}" type="slidenum">
              <a:rPr lang="fr-FR" smtClean="0"/>
              <a:t>‹N°›</a:t>
            </a:fld>
            <a:endParaRPr lang="fr-FR"/>
          </a:p>
        </p:txBody>
      </p:sp>
    </p:spTree>
    <p:extLst>
      <p:ext uri="{BB962C8B-B14F-4D97-AF65-F5344CB8AC3E}">
        <p14:creationId xmlns:p14="http://schemas.microsoft.com/office/powerpoint/2010/main" val="1642685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 Id="rId3"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eg"/><Relationship Id="rId3"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eg"/><Relationship Id="rId3"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eg"/><Relationship Id="rId3"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musopen.org/fr/music/603-ballade-no-1-op-23/" TargetMode="External"/><Relationship Id="rId3" Type="http://schemas.openxmlformats.org/officeDocument/2006/relationships/hyperlink" Target="https://pianiste.fr/la-lecon-la-ballade-un-recit-musical/" TargetMode="External"/><Relationship Id="rId4" Type="http://schemas.openxmlformats.org/officeDocument/2006/relationships/hyperlink" Target="https://tonic-chord.com/chopin-ballade-no-1-in-g-minor-op-23-analysis/" TargetMode="External"/><Relationship Id="rId5" Type="http://schemas.openxmlformats.org/officeDocument/2006/relationships/hyperlink" Target="https://www.youtube.com/watch?v=p-1o8j3gp8U" TargetMode="External"/><Relationship Id="rId6"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ctrTitle"/>
          </p:nvPr>
        </p:nvSpPr>
        <p:spPr>
          <a:xfrm>
            <a:off x="1545980" y="3196615"/>
            <a:ext cx="9144000" cy="2387600"/>
          </a:xfrm>
        </p:spPr>
        <p:txBody>
          <a:bodyPr>
            <a:noAutofit/>
          </a:bodyPr>
          <a:lstStyle/>
          <a:p>
            <a:r>
              <a:rPr lang="fr-FR" sz="7200" b="1" dirty="0" smtClean="0">
                <a:solidFill>
                  <a:srgbClr val="C00000"/>
                </a:solidFill>
              </a:rPr>
              <a:t/>
            </a:r>
            <a:br>
              <a:rPr lang="fr-FR" sz="7200" b="1" dirty="0" smtClean="0">
                <a:solidFill>
                  <a:srgbClr val="C00000"/>
                </a:solidFill>
              </a:rPr>
            </a:br>
            <a:r>
              <a:rPr lang="fr-FR" sz="7200" b="1" dirty="0">
                <a:solidFill>
                  <a:srgbClr val="C00000"/>
                </a:solidFill>
              </a:rPr>
              <a:t/>
            </a:r>
            <a:br>
              <a:rPr lang="fr-FR" sz="7200" b="1" dirty="0">
                <a:solidFill>
                  <a:srgbClr val="C00000"/>
                </a:solidFill>
              </a:rPr>
            </a:br>
            <a:r>
              <a:rPr lang="fr-FR" sz="7200" b="1" dirty="0" smtClean="0">
                <a:solidFill>
                  <a:srgbClr val="C00000"/>
                </a:solidFill>
              </a:rPr>
              <a:t/>
            </a:r>
            <a:br>
              <a:rPr lang="fr-FR" sz="7200" b="1" dirty="0" smtClean="0">
                <a:solidFill>
                  <a:srgbClr val="C00000"/>
                </a:solidFill>
              </a:rPr>
            </a:br>
            <a:r>
              <a:rPr lang="fr-FR" sz="7200" b="1" dirty="0">
                <a:solidFill>
                  <a:srgbClr val="C00000"/>
                </a:solidFill>
              </a:rPr>
              <a:t/>
            </a:r>
            <a:br>
              <a:rPr lang="fr-FR" sz="7200" b="1" dirty="0">
                <a:solidFill>
                  <a:srgbClr val="C00000"/>
                </a:solidFill>
              </a:rPr>
            </a:br>
            <a:r>
              <a:rPr lang="fr-FR" sz="7200" b="1" dirty="0" smtClean="0">
                <a:solidFill>
                  <a:srgbClr val="C00000"/>
                </a:solidFill>
              </a:rPr>
              <a:t/>
            </a:r>
            <a:br>
              <a:rPr lang="fr-FR" sz="7200" b="1" dirty="0" smtClean="0">
                <a:solidFill>
                  <a:srgbClr val="C00000"/>
                </a:solidFill>
              </a:rPr>
            </a:br>
            <a:r>
              <a:rPr lang="fr-FR" sz="7200" b="1" dirty="0">
                <a:solidFill>
                  <a:srgbClr val="C00000"/>
                </a:solidFill>
              </a:rPr>
              <a:t/>
            </a:r>
            <a:br>
              <a:rPr lang="fr-FR" sz="7200" b="1" dirty="0">
                <a:solidFill>
                  <a:srgbClr val="C00000"/>
                </a:solidFill>
              </a:rPr>
            </a:br>
            <a:r>
              <a:rPr lang="fr-FR" b="1" dirty="0" smtClean="0">
                <a:solidFill>
                  <a:srgbClr val="C00000"/>
                </a:solidFill>
              </a:rPr>
              <a:t>La </a:t>
            </a:r>
            <a:r>
              <a:rPr lang="fr-FR" b="1" dirty="0">
                <a:solidFill>
                  <a:srgbClr val="C00000"/>
                </a:solidFill>
              </a:rPr>
              <a:t>ballade, </a:t>
            </a:r>
            <a:r>
              <a:rPr lang="fr-FR" b="1" dirty="0" smtClean="0">
                <a:solidFill>
                  <a:srgbClr val="C00000"/>
                </a:solidFill>
              </a:rPr>
              <a:t/>
            </a:r>
            <a:br>
              <a:rPr lang="fr-FR" b="1" dirty="0" smtClean="0">
                <a:solidFill>
                  <a:srgbClr val="C00000"/>
                </a:solidFill>
              </a:rPr>
            </a:br>
            <a:r>
              <a:rPr lang="fr-FR" b="1" dirty="0" smtClean="0">
                <a:solidFill>
                  <a:srgbClr val="C00000"/>
                </a:solidFill>
              </a:rPr>
              <a:t>du </a:t>
            </a:r>
            <a:r>
              <a:rPr lang="fr-FR" b="1" dirty="0">
                <a:solidFill>
                  <a:srgbClr val="C00000"/>
                </a:solidFill>
              </a:rPr>
              <a:t>XVIIIème au XIXème siècle</a:t>
            </a:r>
            <a:r>
              <a:rPr lang="fr-FR" sz="7200" dirty="0">
                <a:solidFill>
                  <a:srgbClr val="C00000"/>
                </a:solidFill>
              </a:rPr>
              <a:t/>
            </a:r>
            <a:br>
              <a:rPr lang="fr-FR" sz="7200" dirty="0">
                <a:solidFill>
                  <a:srgbClr val="C00000"/>
                </a:solidFill>
              </a:rPr>
            </a:br>
            <a:endParaRPr lang="fr-FR" sz="7200" dirty="0">
              <a:solidFill>
                <a:srgbClr val="C00000"/>
              </a:solidFill>
            </a:endParaRPr>
          </a:p>
        </p:txBody>
      </p:sp>
    </p:spTree>
    <p:extLst>
      <p:ext uri="{BB962C8B-B14F-4D97-AF65-F5344CB8AC3E}">
        <p14:creationId xmlns:p14="http://schemas.microsoft.com/office/powerpoint/2010/main" val="3258299022"/>
      </p:ext>
    </p:ext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jpg"/>
          <p:cNvPicPr>
            <a:picLocks noChangeAspect="1"/>
          </p:cNvPicPr>
          <p:nvPr/>
        </p:nvPicPr>
        <p:blipFill>
          <a:blip r:embed="rId2"/>
          <a:stretch>
            <a:fillRect/>
          </a:stretch>
        </p:blipFill>
        <p:spPr>
          <a:xfrm>
            <a:off x="0" y="0"/>
            <a:ext cx="12192000" cy="6858000"/>
          </a:xfrm>
          <a:prstGeom prst="rect">
            <a:avLst/>
          </a:prstGeom>
        </p:spPr>
      </p:pic>
      <p:sp>
        <p:nvSpPr>
          <p:cNvPr id="4" name="Titre 3"/>
          <p:cNvSpPr>
            <a:spLocks noGrp="1"/>
          </p:cNvSpPr>
          <p:nvPr>
            <p:ph type="title"/>
          </p:nvPr>
        </p:nvSpPr>
        <p:spPr>
          <a:xfrm>
            <a:off x="899745" y="2721464"/>
            <a:ext cx="10515600" cy="1325563"/>
          </a:xfrm>
        </p:spPr>
        <p:txBody>
          <a:bodyPr>
            <a:normAutofit/>
          </a:bodyPr>
          <a:lstStyle/>
          <a:p>
            <a:pPr algn="ctr"/>
            <a:r>
              <a:rPr lang="fr-FR" sz="5400" b="1" dirty="0" smtClean="0">
                <a:solidFill>
                  <a:schemeClr val="accent2"/>
                </a:solidFill>
              </a:rPr>
              <a:t>Définition et Présentation historique</a:t>
            </a:r>
            <a:endParaRPr lang="fr-FR" sz="5400" b="1" dirty="0">
              <a:solidFill>
                <a:schemeClr val="accent2"/>
              </a:solidFill>
            </a:endParaRPr>
          </a:p>
        </p:txBody>
      </p:sp>
    </p:spTree>
    <p:extLst>
      <p:ext uri="{BB962C8B-B14F-4D97-AF65-F5344CB8AC3E}">
        <p14:creationId xmlns:p14="http://schemas.microsoft.com/office/powerpoint/2010/main" val="427004197"/>
      </p:ext>
    </p:extLst>
  </p:cSld>
  <p:clrMapOvr>
    <a:masterClrMapping/>
  </p:clrMapOvr>
  <p:transition spd="slow">
    <p:wheel spokes="4"/>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lstStyle/>
          <a:p>
            <a:pPr algn="ctr"/>
            <a:r>
              <a:rPr lang="fr-FR" b="1" dirty="0" smtClean="0">
                <a:solidFill>
                  <a:schemeClr val="accent6"/>
                </a:solidFill>
              </a:rPr>
              <a:t>Définition et évolution au cours des siècles:</a:t>
            </a:r>
            <a:endParaRPr lang="fr-FR" b="1" dirty="0">
              <a:solidFill>
                <a:schemeClr val="accent6"/>
              </a:solidFill>
            </a:endParaRPr>
          </a:p>
        </p:txBody>
      </p:sp>
      <p:sp>
        <p:nvSpPr>
          <p:cNvPr id="3" name="Espace réservé du contenu 2"/>
          <p:cNvSpPr>
            <a:spLocks noGrp="1"/>
          </p:cNvSpPr>
          <p:nvPr>
            <p:ph idx="1"/>
          </p:nvPr>
        </p:nvSpPr>
        <p:spPr/>
        <p:txBody>
          <a:bodyPr>
            <a:normAutofit/>
          </a:bodyPr>
          <a:lstStyle/>
          <a:p>
            <a:r>
              <a:rPr lang="fr-FR" dirty="0"/>
              <a:t>Ballade vient du mot latin « </a:t>
            </a:r>
            <a:r>
              <a:rPr lang="fr-FR" dirty="0" err="1"/>
              <a:t>Ballare</a:t>
            </a:r>
            <a:r>
              <a:rPr lang="fr-FR" dirty="0"/>
              <a:t> » qui signifie « danser </a:t>
            </a:r>
            <a:r>
              <a:rPr lang="fr-FR" dirty="0" smtClean="0"/>
              <a:t>».</a:t>
            </a:r>
          </a:p>
        </p:txBody>
      </p:sp>
    </p:spTree>
    <p:extLst>
      <p:ext uri="{BB962C8B-B14F-4D97-AF65-F5344CB8AC3E}">
        <p14:creationId xmlns:p14="http://schemas.microsoft.com/office/powerpoint/2010/main" val="2583403301"/>
      </p:ext>
    </p:extLst>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200" b="1" dirty="0" smtClean="0">
                <a:solidFill>
                  <a:schemeClr val="accent5"/>
                </a:solidFill>
              </a:rPr>
              <a:t>La ballade médiévale</a:t>
            </a:r>
            <a:endParaRPr lang="fr-FR" sz="4200" b="1" dirty="0">
              <a:solidFill>
                <a:schemeClr val="accent5"/>
              </a:solidFill>
            </a:endParaRPr>
          </a:p>
        </p:txBody>
      </p:sp>
      <p:sp>
        <p:nvSpPr>
          <p:cNvPr id="3" name="Espace réservé du contenu 2"/>
          <p:cNvSpPr>
            <a:spLocks noGrp="1"/>
          </p:cNvSpPr>
          <p:nvPr>
            <p:ph idx="1"/>
          </p:nvPr>
        </p:nvSpPr>
        <p:spPr/>
        <p:txBody>
          <a:bodyPr/>
          <a:lstStyle/>
          <a:p>
            <a:r>
              <a:rPr lang="fr-FR" dirty="0"/>
              <a:t>Au moyen-âge la ballade désigne une forme poétique et musicale précise avec retour d’un refrain. Le poème est composé de 3 strophes de 8 à 10 vers et d’une dernière strophe plus courte appelée « envoi ». Les thèmes de </a:t>
            </a:r>
            <a:r>
              <a:rPr lang="fr-FR" dirty="0" smtClean="0"/>
              <a:t>ces </a:t>
            </a:r>
            <a:r>
              <a:rPr lang="fr-FR" dirty="0"/>
              <a:t>poèmes chantés sont très variés (politique, religion, amour…).</a:t>
            </a:r>
          </a:p>
          <a:p>
            <a:endParaRPr lang="fr-FR" dirty="0"/>
          </a:p>
        </p:txBody>
      </p:sp>
    </p:spTree>
    <p:extLst>
      <p:ext uri="{BB962C8B-B14F-4D97-AF65-F5344CB8AC3E}">
        <p14:creationId xmlns:p14="http://schemas.microsoft.com/office/powerpoint/2010/main" val="2957004349"/>
      </p:ext>
    </p:extLst>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200" b="1" dirty="0" smtClean="0">
                <a:solidFill>
                  <a:schemeClr val="accent5"/>
                </a:solidFill>
              </a:rPr>
              <a:t>La ballade du 18</a:t>
            </a:r>
            <a:r>
              <a:rPr lang="fr-FR" sz="4200" b="1" baseline="30000" dirty="0" smtClean="0">
                <a:solidFill>
                  <a:schemeClr val="accent5"/>
                </a:solidFill>
              </a:rPr>
              <a:t>ème</a:t>
            </a:r>
            <a:r>
              <a:rPr lang="fr-FR" sz="4200" b="1" dirty="0" smtClean="0">
                <a:solidFill>
                  <a:schemeClr val="accent5"/>
                </a:solidFill>
              </a:rPr>
              <a:t> et du 19</a:t>
            </a:r>
            <a:r>
              <a:rPr lang="fr-FR" sz="4200" b="1" baseline="30000" dirty="0" smtClean="0">
                <a:solidFill>
                  <a:schemeClr val="accent5"/>
                </a:solidFill>
              </a:rPr>
              <a:t>ème</a:t>
            </a:r>
            <a:r>
              <a:rPr lang="fr-FR" sz="4200" b="1" dirty="0" smtClean="0">
                <a:solidFill>
                  <a:schemeClr val="accent5"/>
                </a:solidFill>
              </a:rPr>
              <a:t> siècle</a:t>
            </a:r>
            <a:endParaRPr lang="fr-FR" sz="4200" b="1" dirty="0">
              <a:solidFill>
                <a:schemeClr val="accent5"/>
              </a:solidFill>
            </a:endParaRPr>
          </a:p>
        </p:txBody>
      </p:sp>
      <p:sp>
        <p:nvSpPr>
          <p:cNvPr id="3" name="Espace réservé du contenu 2"/>
          <p:cNvSpPr>
            <a:spLocks noGrp="1"/>
          </p:cNvSpPr>
          <p:nvPr>
            <p:ph idx="1"/>
          </p:nvPr>
        </p:nvSpPr>
        <p:spPr>
          <a:xfrm>
            <a:off x="838200" y="1825625"/>
            <a:ext cx="10515600" cy="4540006"/>
          </a:xfrm>
        </p:spPr>
        <p:txBody>
          <a:bodyPr>
            <a:normAutofit fontScale="70000" lnSpcReduction="20000"/>
          </a:bodyPr>
          <a:lstStyle/>
          <a:p>
            <a:r>
              <a:rPr lang="fr-FR" dirty="0"/>
              <a:t>Du 18</a:t>
            </a:r>
            <a:r>
              <a:rPr lang="fr-FR" baseline="30000" dirty="0"/>
              <a:t>ème</a:t>
            </a:r>
            <a:r>
              <a:rPr lang="fr-FR" dirty="0"/>
              <a:t> au 19</a:t>
            </a:r>
            <a:r>
              <a:rPr lang="fr-FR" baseline="30000" dirty="0"/>
              <a:t>ème</a:t>
            </a:r>
            <a:r>
              <a:rPr lang="fr-FR" dirty="0"/>
              <a:t> siècle, la ballade désigne un genre poétique, musical et vocal allemand, alliant narratif et lyrique, dérivé de la « </a:t>
            </a:r>
            <a:r>
              <a:rPr lang="fr-FR" dirty="0" err="1"/>
              <a:t>ballad</a:t>
            </a:r>
            <a:r>
              <a:rPr lang="fr-FR" dirty="0"/>
              <a:t> » anglaise du 14</a:t>
            </a:r>
            <a:r>
              <a:rPr lang="fr-FR" baseline="30000" dirty="0"/>
              <a:t>ème</a:t>
            </a:r>
            <a:r>
              <a:rPr lang="fr-FR" dirty="0"/>
              <a:t> siècle et liée à l’émergence du Lied. Les poètes les plus connus et ayant beaucoup inspiré les compositeurs sont Goethe, Schiller et Bürger. Ce sont des compositions musicales vocales très libre, allant de la forme strophique à la forme « </a:t>
            </a:r>
            <a:r>
              <a:rPr lang="fr-FR" dirty="0" err="1"/>
              <a:t>durchkomponiert</a:t>
            </a:r>
            <a:r>
              <a:rPr lang="fr-FR" dirty="0"/>
              <a:t> » ou continue, avec des passages proches du récitatif. </a:t>
            </a:r>
            <a:endParaRPr lang="fr-FR" dirty="0" smtClean="0"/>
          </a:p>
          <a:p>
            <a:r>
              <a:rPr lang="fr-FR" dirty="0" smtClean="0"/>
              <a:t>La ballade apparait d’abord dans la littérature, plus particulièrement le genre poétique:</a:t>
            </a:r>
          </a:p>
          <a:p>
            <a:pPr lvl="1"/>
            <a:r>
              <a:rPr lang="fr-FR" dirty="0" smtClean="0"/>
              <a:t> Les premières ballades dateraient du IIIème siècle, par un poète gaélique, Ossian (publication en 1760)</a:t>
            </a:r>
          </a:p>
          <a:p>
            <a:pPr lvl="1"/>
            <a:r>
              <a:rPr lang="fr-FR" dirty="0" smtClean="0"/>
              <a:t>Des ballades anglaises du moyen-âge ont été recueillies par Thomas Percy puis traduites en langue allemande (1765) </a:t>
            </a:r>
          </a:p>
          <a:p>
            <a:pPr lvl="1"/>
            <a:r>
              <a:rPr lang="fr-FR" dirty="0" smtClean="0"/>
              <a:t>Ces ballades ont inspirés les poètes germaniques tels que Goethe et Schiller.</a:t>
            </a:r>
          </a:p>
          <a:p>
            <a:r>
              <a:rPr lang="fr-FR" dirty="0" smtClean="0"/>
              <a:t>Les poèmes de Goethe et Schiller inspirent les compositeurs germaniques qui les mettent en musique. C’est la naissance du Lied, initiée par Schubert et suivi par d’autres compositeurs dont Reichardt et Loewe.</a:t>
            </a:r>
          </a:p>
          <a:p>
            <a:r>
              <a:rPr lang="fr-FR" dirty="0" smtClean="0"/>
              <a:t>Certains de ces lieder sont des ballades. </a:t>
            </a:r>
          </a:p>
          <a:p>
            <a:pPr marL="0" indent="0">
              <a:buNone/>
            </a:pPr>
            <a:r>
              <a:rPr lang="fr-FR" dirty="0" smtClean="0"/>
              <a:t>Il </a:t>
            </a:r>
            <a:r>
              <a:rPr lang="fr-FR" dirty="0"/>
              <a:t>existe plusieurs formes de lieder, dont les extrêmes sont:</a:t>
            </a:r>
          </a:p>
          <a:p>
            <a:pPr lvl="1">
              <a:buFontTx/>
              <a:buChar char="-"/>
            </a:pPr>
            <a:r>
              <a:rPr lang="fr-FR" dirty="0" smtClean="0"/>
              <a:t>La </a:t>
            </a:r>
            <a:r>
              <a:rPr lang="fr-FR" dirty="0"/>
              <a:t>forme </a:t>
            </a:r>
            <a:r>
              <a:rPr lang="fr-FR" dirty="0" smtClean="0"/>
              <a:t>strophique</a:t>
            </a:r>
          </a:p>
          <a:p>
            <a:pPr lvl="1">
              <a:buFontTx/>
              <a:buChar char="-"/>
            </a:pPr>
            <a:r>
              <a:rPr lang="fr-FR" dirty="0" smtClean="0"/>
              <a:t>La </a:t>
            </a:r>
            <a:r>
              <a:rPr lang="fr-FR" dirty="0"/>
              <a:t>Forme </a:t>
            </a:r>
            <a:r>
              <a:rPr lang="fr-FR" dirty="0" err="1" smtClean="0"/>
              <a:t>Durchkomponiert</a:t>
            </a:r>
            <a:r>
              <a:rPr lang="fr-FR" dirty="0" smtClean="0"/>
              <a:t> ou continue: </a:t>
            </a:r>
            <a:r>
              <a:rPr lang="fr-FR" dirty="0"/>
              <a:t>écriture continue, à caractère lyrique.</a:t>
            </a:r>
          </a:p>
          <a:p>
            <a:endParaRPr lang="fr-FR" dirty="0" smtClean="0"/>
          </a:p>
          <a:p>
            <a:pPr lvl="1"/>
            <a:endParaRPr lang="fr-FR" dirty="0" smtClean="0"/>
          </a:p>
          <a:p>
            <a:endParaRPr lang="fr-FR" dirty="0"/>
          </a:p>
        </p:txBody>
      </p:sp>
    </p:spTree>
    <p:extLst>
      <p:ext uri="{BB962C8B-B14F-4D97-AF65-F5344CB8AC3E}">
        <p14:creationId xmlns:p14="http://schemas.microsoft.com/office/powerpoint/2010/main" val="1372942975"/>
      </p:ext>
    </p:extLst>
  </p:cSld>
  <p:clrMapOvr>
    <a:masterClrMapping/>
  </p:clrMapOvr>
  <p:transition spd="med">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200" b="1" dirty="0" smtClean="0">
                <a:solidFill>
                  <a:schemeClr val="accent5"/>
                </a:solidFill>
              </a:rPr>
              <a:t>La ballade instrumentale du 19</a:t>
            </a:r>
            <a:r>
              <a:rPr lang="fr-FR" sz="4200" b="1" baseline="30000" dirty="0" smtClean="0">
                <a:solidFill>
                  <a:schemeClr val="accent5"/>
                </a:solidFill>
              </a:rPr>
              <a:t>ème</a:t>
            </a:r>
            <a:r>
              <a:rPr lang="fr-FR" sz="4200" b="1" dirty="0" smtClean="0">
                <a:solidFill>
                  <a:schemeClr val="accent5"/>
                </a:solidFill>
              </a:rPr>
              <a:t> siècle</a:t>
            </a:r>
            <a:endParaRPr lang="fr-FR" sz="4200" b="1" dirty="0">
              <a:solidFill>
                <a:schemeClr val="accent5"/>
              </a:solidFill>
            </a:endParaRPr>
          </a:p>
        </p:txBody>
      </p:sp>
      <p:sp>
        <p:nvSpPr>
          <p:cNvPr id="3" name="Espace réservé du contenu 2"/>
          <p:cNvSpPr>
            <a:spLocks noGrp="1"/>
          </p:cNvSpPr>
          <p:nvPr>
            <p:ph idx="1"/>
          </p:nvPr>
        </p:nvSpPr>
        <p:spPr/>
        <p:txBody>
          <a:bodyPr/>
          <a:lstStyle/>
          <a:p>
            <a:r>
              <a:rPr lang="fr-FR" dirty="0"/>
              <a:t>Au 19</a:t>
            </a:r>
            <a:r>
              <a:rPr lang="fr-FR" baseline="30000" dirty="0"/>
              <a:t>ème</a:t>
            </a:r>
            <a:r>
              <a:rPr lang="fr-FR" dirty="0"/>
              <a:t> siècle, elle désigne un genre pianistique, instrumental ou symphonique; allant même jusqu’à explorer l’univers opératique. Elle raconte une histoire, transmet des sentiments, suscite des émotions. Ce sont souvent des pièces virtuoses.</a:t>
            </a:r>
          </a:p>
          <a:p>
            <a:r>
              <a:rPr lang="fr-FR" dirty="0"/>
              <a:t>Le ton de la ballade romantique est souvent tragique et légendaire voire épique. Ces thèmes sont en effet appréciés par les artistes de l’époque romantique, qui affectionnent particulièrement l’époque médiévale et la mette en scène. La ballade des 18 et 19</a:t>
            </a:r>
            <a:r>
              <a:rPr lang="fr-FR" baseline="30000" dirty="0"/>
              <a:t>ème</a:t>
            </a:r>
            <a:r>
              <a:rPr lang="fr-FR" dirty="0"/>
              <a:t> siècles revêt un caractère dramatique et peut être inspirée d’un poème. </a:t>
            </a:r>
          </a:p>
          <a:p>
            <a:endParaRPr lang="fr-FR" dirty="0"/>
          </a:p>
        </p:txBody>
      </p:sp>
    </p:spTree>
    <p:extLst>
      <p:ext uri="{BB962C8B-B14F-4D97-AF65-F5344CB8AC3E}">
        <p14:creationId xmlns:p14="http://schemas.microsoft.com/office/powerpoint/2010/main" val="7831405"/>
      </p:ext>
    </p:extLst>
  </p:cSld>
  <p:clrMapOvr>
    <a:masterClrMapping/>
  </p:clrMapOvr>
  <p:transition spd="med">
    <p:push dir="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a:xfrm>
            <a:off x="759069" y="162902"/>
            <a:ext cx="10515600" cy="1325563"/>
          </a:xfrm>
        </p:spPr>
        <p:txBody>
          <a:bodyPr/>
          <a:lstStyle/>
          <a:p>
            <a:pPr algn="ctr"/>
            <a:r>
              <a:rPr lang="fr-FR" b="1" dirty="0" smtClean="0">
                <a:solidFill>
                  <a:schemeClr val="accent6"/>
                </a:solidFill>
              </a:rPr>
              <a:t/>
            </a:r>
            <a:br>
              <a:rPr lang="fr-FR" b="1" dirty="0" smtClean="0">
                <a:solidFill>
                  <a:schemeClr val="accent6"/>
                </a:solidFill>
              </a:rPr>
            </a:br>
            <a:r>
              <a:rPr lang="fr-FR" b="1" dirty="0" smtClean="0">
                <a:solidFill>
                  <a:schemeClr val="accent6"/>
                </a:solidFill>
              </a:rPr>
              <a:t>Les différentes structures de la ballade</a:t>
            </a:r>
            <a:endParaRPr lang="fr-FR" b="1" dirty="0">
              <a:solidFill>
                <a:schemeClr val="accent6"/>
              </a:solidFill>
            </a:endParaRPr>
          </a:p>
        </p:txBody>
      </p:sp>
      <p:sp>
        <p:nvSpPr>
          <p:cNvPr id="3" name="Espace réservé du contenu 2"/>
          <p:cNvSpPr>
            <a:spLocks noGrp="1"/>
          </p:cNvSpPr>
          <p:nvPr>
            <p:ph idx="1"/>
          </p:nvPr>
        </p:nvSpPr>
        <p:spPr>
          <a:xfrm>
            <a:off x="360485" y="1327638"/>
            <a:ext cx="10993315" cy="5266593"/>
          </a:xfrm>
        </p:spPr>
        <p:txBody>
          <a:bodyPr>
            <a:normAutofit fontScale="70000" lnSpcReduction="20000"/>
          </a:bodyPr>
          <a:lstStyle/>
          <a:p>
            <a:pPr lvl="1">
              <a:buFontTx/>
              <a:buChar char="-"/>
            </a:pPr>
            <a:endParaRPr lang="fr-FR" dirty="0"/>
          </a:p>
          <a:p>
            <a:pPr lvl="0"/>
            <a:r>
              <a:rPr lang="fr-FR" dirty="0">
                <a:solidFill>
                  <a:prstClr val="black"/>
                </a:solidFill>
              </a:rPr>
              <a:t>La ballade a exploré beaucoup de genres différents et est assez libre, aussi il n’existe pas une structure ou forme type associée. </a:t>
            </a:r>
          </a:p>
          <a:p>
            <a:pPr lvl="1">
              <a:buFontTx/>
              <a:buChar char="-"/>
            </a:pPr>
            <a:endParaRPr lang="fr-FR" dirty="0"/>
          </a:p>
          <a:p>
            <a:r>
              <a:rPr lang="fr-FR" dirty="0" smtClean="0"/>
              <a:t>Johann André (1741-1799) inscrit la ballade dans la forme « </a:t>
            </a:r>
            <a:r>
              <a:rPr lang="fr-FR" dirty="0" err="1" smtClean="0"/>
              <a:t>durchkomponiert</a:t>
            </a:r>
            <a:r>
              <a:rPr lang="fr-FR" dirty="0" smtClean="0"/>
              <a:t> » notamment avec </a:t>
            </a:r>
            <a:r>
              <a:rPr lang="fr-FR" i="1" dirty="0" smtClean="0"/>
              <a:t>Léonore.</a:t>
            </a:r>
          </a:p>
          <a:p>
            <a:r>
              <a:rPr lang="fr-FR" dirty="0" smtClean="0"/>
              <a:t>Johann Rudolf </a:t>
            </a:r>
            <a:r>
              <a:rPr lang="fr-FR" dirty="0" err="1" smtClean="0"/>
              <a:t>Zumsteeg</a:t>
            </a:r>
            <a:r>
              <a:rPr lang="fr-FR" dirty="0" smtClean="0"/>
              <a:t> (1760-1820) écrit beaucoup de ballades, qui revêtent différentes formes/structures:</a:t>
            </a:r>
          </a:p>
          <a:p>
            <a:pPr lvl="1"/>
            <a:r>
              <a:rPr lang="fr-FR" dirty="0" smtClean="0"/>
              <a:t>Les ballades longues: présente des sections contrastées avec des éléments apparentés entre eux.</a:t>
            </a:r>
          </a:p>
          <a:p>
            <a:pPr lvl="2"/>
            <a:r>
              <a:rPr lang="fr-FR" dirty="0" smtClean="0"/>
              <a:t>De forme ouverte</a:t>
            </a:r>
          </a:p>
          <a:p>
            <a:pPr lvl="2"/>
            <a:r>
              <a:rPr lang="fr-FR" dirty="0" smtClean="0"/>
              <a:t>De forme cyclique</a:t>
            </a:r>
          </a:p>
          <a:p>
            <a:pPr lvl="1"/>
            <a:r>
              <a:rPr lang="fr-FR" dirty="0" smtClean="0"/>
              <a:t>Les ballades courtes: alliant forme strophique et forme continue</a:t>
            </a:r>
          </a:p>
          <a:p>
            <a:pPr lvl="1"/>
            <a:endParaRPr lang="fr-FR" dirty="0"/>
          </a:p>
          <a:p>
            <a:r>
              <a:rPr lang="fr-FR" dirty="0" smtClean="0"/>
              <a:t>Contrairement au lied, la ballade peut être instrumentale. </a:t>
            </a:r>
          </a:p>
          <a:p>
            <a:r>
              <a:rPr lang="fr-FR" dirty="0" smtClean="0"/>
              <a:t>Elle est souvent inspirée d’un poème</a:t>
            </a:r>
          </a:p>
          <a:p>
            <a:pPr lvl="0"/>
            <a:r>
              <a:rPr lang="fr-FR" dirty="0">
                <a:solidFill>
                  <a:prstClr val="black"/>
                </a:solidFill>
              </a:rPr>
              <a:t>C</a:t>
            </a:r>
            <a:r>
              <a:rPr lang="fr-FR" dirty="0" smtClean="0">
                <a:solidFill>
                  <a:prstClr val="black"/>
                </a:solidFill>
              </a:rPr>
              <a:t>ertains </a:t>
            </a:r>
            <a:r>
              <a:rPr lang="fr-FR" dirty="0">
                <a:solidFill>
                  <a:prstClr val="black"/>
                </a:solidFill>
              </a:rPr>
              <a:t>analystes soulignes quelques traits communs, notamment dans les ballades pianistiques:</a:t>
            </a:r>
          </a:p>
          <a:p>
            <a:pPr lvl="1"/>
            <a:r>
              <a:rPr lang="fr-FR" dirty="0">
                <a:solidFill>
                  <a:prstClr val="black"/>
                </a:solidFill>
              </a:rPr>
              <a:t>Réexposition en miroir: l’ordre des thèmes est inversé</a:t>
            </a:r>
          </a:p>
          <a:p>
            <a:pPr lvl="1"/>
            <a:r>
              <a:rPr lang="fr-FR" dirty="0">
                <a:solidFill>
                  <a:prstClr val="black"/>
                </a:solidFill>
              </a:rPr>
              <a:t>Mesure 6/8 ou 6/4</a:t>
            </a:r>
          </a:p>
          <a:p>
            <a:pPr lvl="1"/>
            <a:endParaRPr lang="fr-FR" dirty="0" smtClean="0"/>
          </a:p>
        </p:txBody>
      </p:sp>
    </p:spTree>
    <p:extLst>
      <p:ext uri="{BB962C8B-B14F-4D97-AF65-F5344CB8AC3E}">
        <p14:creationId xmlns:p14="http://schemas.microsoft.com/office/powerpoint/2010/main" val="2390637367"/>
      </p:ext>
    </p:extLst>
  </p:cSld>
  <p:clrMapOvr>
    <a:masterClrMapping/>
  </p:clrMapOvr>
  <p:transition spd="med">
    <p:wipe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lstStyle/>
          <a:p>
            <a:pPr algn="ctr"/>
            <a:r>
              <a:rPr lang="fr-FR" b="1" dirty="0" smtClean="0">
                <a:solidFill>
                  <a:schemeClr val="accent6"/>
                </a:solidFill>
              </a:rPr>
              <a:t>Compositeurs, genres explorés et œuvres majeures</a:t>
            </a:r>
            <a:endParaRPr lang="fr-FR" b="1" dirty="0">
              <a:solidFill>
                <a:schemeClr val="accent6"/>
              </a:solidFill>
            </a:endParaRPr>
          </a:p>
        </p:txBody>
      </p:sp>
      <p:sp>
        <p:nvSpPr>
          <p:cNvPr id="3" name="Espace réservé du contenu 2"/>
          <p:cNvSpPr>
            <a:spLocks noGrp="1"/>
          </p:cNvSpPr>
          <p:nvPr>
            <p:ph idx="1"/>
          </p:nvPr>
        </p:nvSpPr>
        <p:spPr>
          <a:xfrm>
            <a:off x="838200" y="1825625"/>
            <a:ext cx="10515600" cy="4671890"/>
          </a:xfrm>
        </p:spPr>
        <p:txBody>
          <a:bodyPr>
            <a:normAutofit fontScale="77500" lnSpcReduction="20000"/>
          </a:bodyPr>
          <a:lstStyle/>
          <a:p>
            <a:r>
              <a:rPr lang="fr-FR" dirty="0" smtClean="0"/>
              <a:t>Johann André (1741-1799): marque l’entrée de la ballade dans la forme plutôt continue - </a:t>
            </a:r>
            <a:r>
              <a:rPr lang="fr-FR" i="1" dirty="0" err="1" smtClean="0"/>
              <a:t>Leonore</a:t>
            </a:r>
            <a:endParaRPr lang="fr-FR" dirty="0" smtClean="0"/>
          </a:p>
          <a:p>
            <a:r>
              <a:rPr lang="fr-FR" dirty="0" smtClean="0"/>
              <a:t>Johann Rudolph </a:t>
            </a:r>
            <a:r>
              <a:rPr lang="fr-FR" dirty="0" err="1" smtClean="0"/>
              <a:t>Zumsteeg</a:t>
            </a:r>
            <a:r>
              <a:rPr lang="fr-FR" dirty="0" smtClean="0"/>
              <a:t> (1760-1802): a écrit 7 volumes dont </a:t>
            </a:r>
            <a:r>
              <a:rPr lang="fr-FR" i="1" dirty="0"/>
              <a:t>Klein </a:t>
            </a:r>
            <a:r>
              <a:rPr lang="fr-FR" i="1" dirty="0" err="1"/>
              <a:t>balladen</a:t>
            </a:r>
            <a:r>
              <a:rPr lang="fr-FR" i="1" dirty="0"/>
              <a:t> </a:t>
            </a:r>
            <a:r>
              <a:rPr lang="fr-FR" i="1" dirty="0" err="1"/>
              <a:t>und</a:t>
            </a:r>
            <a:r>
              <a:rPr lang="fr-FR" i="1" dirty="0"/>
              <a:t> </a:t>
            </a:r>
            <a:r>
              <a:rPr lang="fr-FR" i="1" dirty="0" smtClean="0"/>
              <a:t>Lieder. </a:t>
            </a:r>
            <a:r>
              <a:rPr lang="fr-FR" dirty="0" smtClean="0"/>
              <a:t>Il explore différentes manières d’écrire des ballades: courtes ou longues, de forme ouverte (</a:t>
            </a:r>
            <a:r>
              <a:rPr lang="fr-FR" i="1" dirty="0" smtClean="0"/>
              <a:t>Lenore</a:t>
            </a:r>
            <a:r>
              <a:rPr lang="fr-FR" dirty="0" smtClean="0"/>
              <a:t>) ou cyclique (</a:t>
            </a:r>
            <a:r>
              <a:rPr lang="fr-FR" i="1" dirty="0" err="1" smtClean="0"/>
              <a:t>Elwine</a:t>
            </a:r>
            <a:r>
              <a:rPr lang="fr-FR" dirty="0" smtClean="0"/>
              <a:t>) –. Il a inspiré les 4 premiers lieder de Schubert.</a:t>
            </a:r>
          </a:p>
          <a:p>
            <a:r>
              <a:rPr lang="fr-FR" dirty="0" smtClean="0"/>
              <a:t>Franz Schubert (1797-1828) et Carl Loewe (1796-1869): grands représentants du genre, notamment par les lieder (</a:t>
            </a:r>
            <a:r>
              <a:rPr lang="fr-FR" i="1" dirty="0" smtClean="0"/>
              <a:t>La belle meunière; voyage d’hiver</a:t>
            </a:r>
            <a:r>
              <a:rPr lang="fr-FR" dirty="0" smtClean="0"/>
              <a:t>)</a:t>
            </a:r>
          </a:p>
          <a:p>
            <a:r>
              <a:rPr lang="fr-FR" dirty="0" smtClean="0"/>
              <a:t>Robert Schumann (1810-1856): cantate pour soliste, chœur et orchestre</a:t>
            </a:r>
            <a:r>
              <a:rPr lang="fr-FR" i="1" dirty="0" smtClean="0"/>
              <a:t>.</a:t>
            </a:r>
            <a:r>
              <a:rPr lang="fr-FR" dirty="0" smtClean="0"/>
              <a:t> Il a écrit 20 ballades. Expansion de la ballade à l’orchestre et au chœur.</a:t>
            </a:r>
          </a:p>
          <a:p>
            <a:r>
              <a:rPr lang="fr-FR" dirty="0" smtClean="0"/>
              <a:t>Frédéric Chopin (1810-1849): fait entrer la ballade dans le répertoire pianistique par ses 4 ballades. </a:t>
            </a:r>
          </a:p>
          <a:p>
            <a:r>
              <a:rPr lang="fr-FR" dirty="0" smtClean="0"/>
              <a:t>Johannes Brahms (1833-1897): ballades instrumentales (alto, ténor, piano): entrée de la ballade dans la musique de chambre. Il a été suivi par </a:t>
            </a:r>
            <a:r>
              <a:rPr lang="fr-FR" dirty="0" err="1" smtClean="0"/>
              <a:t>Lizst</a:t>
            </a:r>
            <a:r>
              <a:rPr lang="fr-FR" dirty="0" smtClean="0"/>
              <a:t>, Fauré…</a:t>
            </a:r>
          </a:p>
          <a:p>
            <a:r>
              <a:rPr lang="fr-FR" dirty="0" smtClean="0"/>
              <a:t>Richard Wagner (1813-1883) invite la ballade à l’opéra (</a:t>
            </a:r>
            <a:r>
              <a:rPr lang="fr-FR" i="1" dirty="0" smtClean="0"/>
              <a:t>Die </a:t>
            </a:r>
            <a:r>
              <a:rPr lang="fr-FR" i="1" dirty="0" err="1" smtClean="0"/>
              <a:t>Fliegende</a:t>
            </a:r>
            <a:r>
              <a:rPr lang="fr-FR" i="1" dirty="0" smtClean="0"/>
              <a:t> </a:t>
            </a:r>
            <a:r>
              <a:rPr lang="fr-FR" i="1" dirty="0" err="1" smtClean="0"/>
              <a:t>Holländer</a:t>
            </a:r>
            <a:r>
              <a:rPr lang="fr-FR" dirty="0" smtClean="0"/>
              <a:t>), suivi par Charles Gounod (</a:t>
            </a:r>
            <a:r>
              <a:rPr lang="fr-FR" i="1" dirty="0" smtClean="0"/>
              <a:t>Faust</a:t>
            </a:r>
            <a:r>
              <a:rPr lang="fr-FR" dirty="0" smtClean="0"/>
              <a:t>) et Modeste Moussorgski (</a:t>
            </a:r>
            <a:r>
              <a:rPr lang="fr-FR" i="1" dirty="0" smtClean="0"/>
              <a:t>Boris Godounov</a:t>
            </a:r>
            <a:r>
              <a:rPr lang="fr-FR" dirty="0" smtClean="0"/>
              <a:t>).</a:t>
            </a:r>
            <a:endParaRPr lang="fr-FR" dirty="0"/>
          </a:p>
        </p:txBody>
      </p:sp>
    </p:spTree>
    <p:extLst>
      <p:ext uri="{BB962C8B-B14F-4D97-AF65-F5344CB8AC3E}">
        <p14:creationId xmlns:p14="http://schemas.microsoft.com/office/powerpoint/2010/main" val="3605084585"/>
      </p:ext>
    </p:extLst>
  </p:cSld>
  <p:clrMapOvr>
    <a:masterClrMapping/>
  </p:clrMapOvr>
  <p:transition spd="med">
    <p:blinds dir="horz"/>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a:xfrm>
            <a:off x="521677" y="2589579"/>
            <a:ext cx="10515600" cy="1325563"/>
          </a:xfrm>
        </p:spPr>
        <p:txBody>
          <a:bodyPr>
            <a:noAutofit/>
          </a:bodyPr>
          <a:lstStyle/>
          <a:p>
            <a:pPr algn="ctr"/>
            <a:r>
              <a:rPr lang="fr-FR" sz="5400" b="1" dirty="0" smtClean="0">
                <a:solidFill>
                  <a:schemeClr val="accent2"/>
                </a:solidFill>
              </a:rPr>
              <a:t>Etude d’une pièce</a:t>
            </a:r>
            <a:br>
              <a:rPr lang="fr-FR" sz="5400" b="1" dirty="0" smtClean="0">
                <a:solidFill>
                  <a:schemeClr val="accent2"/>
                </a:solidFill>
              </a:rPr>
            </a:br>
            <a:r>
              <a:rPr lang="fr-FR" sz="5400" b="1" dirty="0" smtClean="0">
                <a:solidFill>
                  <a:schemeClr val="accent2"/>
                </a:solidFill>
              </a:rPr>
              <a:t/>
            </a:r>
            <a:br>
              <a:rPr lang="fr-FR" sz="5400" b="1" dirty="0" smtClean="0">
                <a:solidFill>
                  <a:schemeClr val="accent2"/>
                </a:solidFill>
              </a:rPr>
            </a:br>
            <a:r>
              <a:rPr lang="fr-FR" sz="5400" b="1" dirty="0" smtClean="0">
                <a:solidFill>
                  <a:schemeClr val="accent2"/>
                </a:solidFill>
              </a:rPr>
              <a:t>Frédéric Chopin</a:t>
            </a:r>
            <a:br>
              <a:rPr lang="fr-FR" sz="5400" b="1" dirty="0" smtClean="0">
                <a:solidFill>
                  <a:schemeClr val="accent2"/>
                </a:solidFill>
              </a:rPr>
            </a:br>
            <a:r>
              <a:rPr lang="fr-FR" sz="5400" b="1" dirty="0" smtClean="0">
                <a:solidFill>
                  <a:schemeClr val="accent2"/>
                </a:solidFill>
              </a:rPr>
              <a:t>1</a:t>
            </a:r>
            <a:r>
              <a:rPr lang="fr-FR" sz="5400" b="1" baseline="30000" dirty="0" smtClean="0">
                <a:solidFill>
                  <a:schemeClr val="accent2"/>
                </a:solidFill>
              </a:rPr>
              <a:t>ère</a:t>
            </a:r>
            <a:r>
              <a:rPr lang="fr-FR" sz="5400" b="1" dirty="0" smtClean="0">
                <a:solidFill>
                  <a:schemeClr val="accent2"/>
                </a:solidFill>
              </a:rPr>
              <a:t> ballade en sol mineur pour piano</a:t>
            </a:r>
            <a:endParaRPr lang="fr-FR" sz="5400" b="1" dirty="0">
              <a:solidFill>
                <a:schemeClr val="accent2"/>
              </a:solidFill>
            </a:endParaRPr>
          </a:p>
        </p:txBody>
      </p:sp>
    </p:spTree>
    <p:extLst>
      <p:ext uri="{BB962C8B-B14F-4D97-AF65-F5344CB8AC3E}">
        <p14:creationId xmlns:p14="http://schemas.microsoft.com/office/powerpoint/2010/main" val="311736326"/>
      </p:ext>
    </p:extLst>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lstStyle/>
          <a:p>
            <a:pPr algn="ctr"/>
            <a:r>
              <a:rPr lang="fr-FR" b="1" dirty="0" smtClean="0">
                <a:solidFill>
                  <a:schemeClr val="accent6"/>
                </a:solidFill>
              </a:rPr>
              <a:t>Présentation de la pièce</a:t>
            </a:r>
            <a:endParaRPr lang="fr-FR" b="1" dirty="0">
              <a:solidFill>
                <a:schemeClr val="accent6"/>
              </a:solidFill>
            </a:endParaRPr>
          </a:p>
        </p:txBody>
      </p:sp>
      <p:sp>
        <p:nvSpPr>
          <p:cNvPr id="3" name="Espace réservé du contenu 2"/>
          <p:cNvSpPr>
            <a:spLocks noGrp="1"/>
          </p:cNvSpPr>
          <p:nvPr>
            <p:ph idx="1"/>
          </p:nvPr>
        </p:nvSpPr>
        <p:spPr/>
        <p:txBody>
          <a:bodyPr>
            <a:normAutofit fontScale="92500"/>
          </a:bodyPr>
          <a:lstStyle/>
          <a:p>
            <a:r>
              <a:rPr lang="fr-FR" dirty="0" smtClean="0"/>
              <a:t>Chopin a composé sa première ballade en 1831 lors de la déclaration d’indépendance de la Pologne (sont pays natal) par rapport à la Russie. Il habite alors à Vienne. La ballade sera publiée après son installation à Paris.</a:t>
            </a:r>
          </a:p>
          <a:p>
            <a:r>
              <a:rPr lang="fr-FR" dirty="0" smtClean="0"/>
              <a:t>La ballade aurait été inspirée par des poèmes de </a:t>
            </a:r>
            <a:r>
              <a:rPr lang="fr-FR" dirty="0" err="1" smtClean="0"/>
              <a:t>Mieckievick</a:t>
            </a:r>
            <a:r>
              <a:rPr lang="fr-FR" dirty="0" smtClean="0"/>
              <a:t>, compatriote polonais exilé comme Chopin</a:t>
            </a:r>
            <a:r>
              <a:rPr lang="fr-FR" dirty="0"/>
              <a:t>. On pourrait y retrouver des allusions à du folklore </a:t>
            </a:r>
            <a:r>
              <a:rPr lang="fr-FR" dirty="0" smtClean="0"/>
              <a:t>polonais. Néanmoins cette influence est controversée. </a:t>
            </a:r>
          </a:p>
          <a:p>
            <a:r>
              <a:rPr lang="fr-FR" dirty="0" smtClean="0"/>
              <a:t>Cette ballade en sol mineur est pleine de contrastes, très expressive avec des modulations, des nuances très contrastées, des thèmes variés parfois très lyrique, chantant, parfois plus agités, dramatiques. Impression de voyage avec différents paysages, émotions, ambiances.  </a:t>
            </a:r>
            <a:endParaRPr lang="fr-FR" dirty="0"/>
          </a:p>
        </p:txBody>
      </p:sp>
    </p:spTree>
    <p:extLst>
      <p:ext uri="{BB962C8B-B14F-4D97-AF65-F5344CB8AC3E}">
        <p14:creationId xmlns:p14="http://schemas.microsoft.com/office/powerpoint/2010/main" val="2200050258"/>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normAutofit fontScale="90000"/>
          </a:bodyPr>
          <a:lstStyle/>
          <a:p>
            <a:pPr algn="ctr"/>
            <a:r>
              <a:rPr lang="fr-FR" b="1" dirty="0" smtClean="0">
                <a:solidFill>
                  <a:schemeClr val="accent6"/>
                </a:solidFill>
              </a:rPr>
              <a:t>Analyse de la pièce</a:t>
            </a:r>
            <a:br>
              <a:rPr lang="fr-FR" b="1" dirty="0" smtClean="0">
                <a:solidFill>
                  <a:schemeClr val="accent6"/>
                </a:solidFill>
              </a:rPr>
            </a:br>
            <a:r>
              <a:rPr lang="fr-FR" sz="4000" b="1" dirty="0" smtClean="0">
                <a:solidFill>
                  <a:schemeClr val="accent5"/>
                </a:solidFill>
              </a:rPr>
              <a:t>Plan général de la pièce: forme sonate (structure type) ou en arche (symétrie tonale)</a:t>
            </a:r>
            <a:endParaRPr lang="fr-FR" sz="4000" b="1" dirty="0">
              <a:solidFill>
                <a:schemeClr val="accent5"/>
              </a:solidFill>
            </a:endParaRPr>
          </a:p>
        </p:txBody>
      </p:sp>
      <p:sp>
        <p:nvSpPr>
          <p:cNvPr id="3" name="Espace réservé du contenu 2"/>
          <p:cNvSpPr>
            <a:spLocks noGrp="1"/>
          </p:cNvSpPr>
          <p:nvPr>
            <p:ph idx="1"/>
          </p:nvPr>
        </p:nvSpPr>
        <p:spPr>
          <a:xfrm>
            <a:off x="767861" y="1843210"/>
            <a:ext cx="10515600" cy="4351338"/>
          </a:xfrm>
        </p:spPr>
        <p:txBody>
          <a:bodyPr>
            <a:normAutofit fontScale="77500" lnSpcReduction="20000"/>
          </a:bodyPr>
          <a:lstStyle/>
          <a:p>
            <a:pPr marL="0" indent="0">
              <a:buNone/>
            </a:pPr>
            <a:r>
              <a:rPr lang="fr-FR" b="1" u="sng" dirty="0">
                <a:solidFill>
                  <a:srgbClr val="FFC000"/>
                </a:solidFill>
              </a:rPr>
              <a:t>INTRO</a:t>
            </a:r>
            <a:r>
              <a:rPr lang="fr-FR" dirty="0" smtClean="0">
                <a:solidFill>
                  <a:srgbClr val="FFC000"/>
                </a:solidFill>
              </a:rPr>
              <a:t> </a:t>
            </a:r>
            <a:r>
              <a:rPr lang="fr-FR" i="1" dirty="0">
                <a:solidFill>
                  <a:schemeClr val="accent4"/>
                </a:solidFill>
              </a:rPr>
              <a:t>l</a:t>
            </a:r>
            <a:r>
              <a:rPr lang="fr-FR" i="1" dirty="0" smtClean="0">
                <a:solidFill>
                  <a:schemeClr val="accent4"/>
                </a:solidFill>
              </a:rPr>
              <a:t>argo</a:t>
            </a:r>
            <a:r>
              <a:rPr lang="fr-FR" dirty="0"/>
              <a:t>: [</a:t>
            </a:r>
            <a:r>
              <a:rPr lang="fr-FR" dirty="0" smtClean="0"/>
              <a:t>m1 </a:t>
            </a:r>
            <a:r>
              <a:rPr lang="fr-FR" dirty="0"/>
              <a:t>à </a:t>
            </a:r>
            <a:r>
              <a:rPr lang="fr-FR" dirty="0" smtClean="0"/>
              <a:t>m7] </a:t>
            </a:r>
            <a:r>
              <a:rPr lang="fr-FR" dirty="0"/>
              <a:t>: </a:t>
            </a:r>
            <a:r>
              <a:rPr lang="fr-FR" dirty="0" smtClean="0"/>
              <a:t>en 4/4 (C). </a:t>
            </a:r>
            <a:endParaRPr lang="fr-FR" dirty="0" smtClean="0">
              <a:solidFill>
                <a:schemeClr val="accent1"/>
              </a:solidFill>
            </a:endParaRPr>
          </a:p>
          <a:p>
            <a:pPr marL="0" indent="0">
              <a:buNone/>
            </a:pPr>
            <a:r>
              <a:rPr lang="fr-FR" b="1" u="sng" dirty="0" smtClean="0">
                <a:solidFill>
                  <a:schemeClr val="accent2"/>
                </a:solidFill>
              </a:rPr>
              <a:t>SECTION 1 = EXPOSITION</a:t>
            </a:r>
            <a:r>
              <a:rPr lang="fr-FR" dirty="0" smtClean="0">
                <a:solidFill>
                  <a:schemeClr val="accent1"/>
                </a:solidFill>
              </a:rPr>
              <a:t>:</a:t>
            </a:r>
          </a:p>
          <a:p>
            <a:r>
              <a:rPr lang="fr-FR" dirty="0" smtClean="0">
                <a:solidFill>
                  <a:schemeClr val="accent1"/>
                </a:solidFill>
              </a:rPr>
              <a:t>THEME A </a:t>
            </a:r>
            <a:r>
              <a:rPr lang="fr-FR" i="1" dirty="0">
                <a:solidFill>
                  <a:schemeClr val="accent1"/>
                </a:solidFill>
              </a:rPr>
              <a:t>m</a:t>
            </a:r>
            <a:r>
              <a:rPr lang="fr-FR" i="1" dirty="0" smtClean="0">
                <a:solidFill>
                  <a:schemeClr val="accent1"/>
                </a:solidFill>
              </a:rPr>
              <a:t>oderato</a:t>
            </a:r>
            <a:r>
              <a:rPr lang="fr-FR" dirty="0" smtClean="0"/>
              <a:t>: [m8 à m34</a:t>
            </a:r>
            <a:r>
              <a:rPr lang="fr-FR" dirty="0"/>
              <a:t>]</a:t>
            </a:r>
            <a:r>
              <a:rPr lang="fr-FR" dirty="0" smtClean="0"/>
              <a:t> en 6/8 – [</a:t>
            </a:r>
            <a:r>
              <a:rPr lang="fr-FR" dirty="0" err="1" smtClean="0"/>
              <a:t>solm</a:t>
            </a:r>
            <a:r>
              <a:rPr lang="fr-FR" dirty="0" smtClean="0"/>
              <a:t>]</a:t>
            </a:r>
          </a:p>
          <a:p>
            <a:r>
              <a:rPr lang="fr-FR" dirty="0" smtClean="0">
                <a:solidFill>
                  <a:srgbClr val="C00000"/>
                </a:solidFill>
              </a:rPr>
              <a:t>PONT 1 </a:t>
            </a:r>
            <a:r>
              <a:rPr lang="fr-FR" i="1" dirty="0">
                <a:solidFill>
                  <a:srgbClr val="C00000"/>
                </a:solidFill>
              </a:rPr>
              <a:t>a</a:t>
            </a:r>
            <a:r>
              <a:rPr lang="fr-FR" i="1" dirty="0" smtClean="0">
                <a:solidFill>
                  <a:srgbClr val="C00000"/>
                </a:solidFill>
              </a:rPr>
              <a:t>gitato</a:t>
            </a:r>
            <a:r>
              <a:rPr lang="fr-FR" dirty="0" smtClean="0"/>
              <a:t>: [m35-m66]</a:t>
            </a:r>
          </a:p>
          <a:p>
            <a:r>
              <a:rPr lang="fr-FR" dirty="0" smtClean="0">
                <a:solidFill>
                  <a:schemeClr val="accent6"/>
                </a:solidFill>
              </a:rPr>
              <a:t>THEME B </a:t>
            </a:r>
            <a:r>
              <a:rPr lang="fr-FR" i="1" dirty="0" err="1">
                <a:solidFill>
                  <a:schemeClr val="accent6"/>
                </a:solidFill>
              </a:rPr>
              <a:t>m</a:t>
            </a:r>
            <a:r>
              <a:rPr lang="fr-FR" i="1" dirty="0" err="1" smtClean="0">
                <a:solidFill>
                  <a:schemeClr val="accent6"/>
                </a:solidFill>
              </a:rPr>
              <a:t>eno</a:t>
            </a:r>
            <a:r>
              <a:rPr lang="fr-FR" i="1" dirty="0" smtClean="0">
                <a:solidFill>
                  <a:schemeClr val="accent6"/>
                </a:solidFill>
              </a:rPr>
              <a:t> </a:t>
            </a:r>
            <a:r>
              <a:rPr lang="fr-FR" i="1" dirty="0" err="1" smtClean="0">
                <a:solidFill>
                  <a:schemeClr val="accent6"/>
                </a:solidFill>
              </a:rPr>
              <a:t>mosso</a:t>
            </a:r>
            <a:r>
              <a:rPr lang="fr-FR" dirty="0" smtClean="0"/>
              <a:t>: B1 [m67 </a:t>
            </a:r>
            <a:r>
              <a:rPr lang="fr-FR" dirty="0"/>
              <a:t>à </a:t>
            </a:r>
            <a:r>
              <a:rPr lang="fr-FR" dirty="0" smtClean="0"/>
              <a:t>m82] – B2 </a:t>
            </a:r>
            <a:r>
              <a:rPr lang="fr-FR" dirty="0"/>
              <a:t>[</a:t>
            </a:r>
            <a:r>
              <a:rPr lang="fr-FR" dirty="0" smtClean="0"/>
              <a:t>m82 </a:t>
            </a:r>
            <a:r>
              <a:rPr lang="fr-FR" dirty="0"/>
              <a:t>à </a:t>
            </a:r>
            <a:r>
              <a:rPr lang="fr-FR" dirty="0" smtClean="0"/>
              <a:t>m92] </a:t>
            </a:r>
            <a:r>
              <a:rPr lang="fr-FR" dirty="0"/>
              <a:t>–</a:t>
            </a:r>
            <a:r>
              <a:rPr lang="fr-FR" dirty="0" smtClean="0"/>
              <a:t> (</a:t>
            </a:r>
            <a:r>
              <a:rPr lang="fr-FR" dirty="0" err="1" smtClean="0"/>
              <a:t>MibM</a:t>
            </a:r>
            <a:r>
              <a:rPr lang="fr-FR" dirty="0" smtClean="0"/>
              <a:t>)</a:t>
            </a:r>
          </a:p>
          <a:p>
            <a:pPr marL="0" indent="0">
              <a:buNone/>
            </a:pPr>
            <a:r>
              <a:rPr lang="fr-FR" b="1" u="sng" dirty="0" smtClean="0">
                <a:solidFill>
                  <a:schemeClr val="accent2"/>
                </a:solidFill>
              </a:rPr>
              <a:t>SECTION 2 = DEVELOPPEMENT et REEXPOSITION</a:t>
            </a:r>
          </a:p>
          <a:p>
            <a:r>
              <a:rPr lang="fr-FR" dirty="0" smtClean="0">
                <a:solidFill>
                  <a:schemeClr val="accent1"/>
                </a:solidFill>
              </a:rPr>
              <a:t>THEME A’ </a:t>
            </a:r>
            <a:r>
              <a:rPr lang="fr-FR" i="1" dirty="0" smtClean="0">
                <a:solidFill>
                  <a:schemeClr val="accent1"/>
                </a:solidFill>
              </a:rPr>
              <a:t>a tempo</a:t>
            </a:r>
            <a:r>
              <a:rPr lang="fr-FR" dirty="0" smtClean="0"/>
              <a:t>: </a:t>
            </a:r>
            <a:r>
              <a:rPr lang="fr-FR" dirty="0"/>
              <a:t>[</a:t>
            </a:r>
            <a:r>
              <a:rPr lang="fr-FR" dirty="0" smtClean="0"/>
              <a:t>m94 </a:t>
            </a:r>
            <a:r>
              <a:rPr lang="fr-FR" dirty="0"/>
              <a:t>à </a:t>
            </a:r>
            <a:r>
              <a:rPr lang="fr-FR" dirty="0" smtClean="0"/>
              <a:t>m105] </a:t>
            </a:r>
            <a:r>
              <a:rPr lang="fr-FR" dirty="0"/>
              <a:t>– </a:t>
            </a:r>
            <a:r>
              <a:rPr lang="fr-FR" dirty="0" smtClean="0"/>
              <a:t>(</a:t>
            </a:r>
            <a:r>
              <a:rPr lang="fr-FR" dirty="0" err="1" smtClean="0"/>
              <a:t>lam</a:t>
            </a:r>
            <a:r>
              <a:rPr lang="fr-FR" dirty="0" smtClean="0"/>
              <a:t>)</a:t>
            </a:r>
          </a:p>
          <a:p>
            <a:r>
              <a:rPr lang="fr-FR" dirty="0" smtClean="0">
                <a:solidFill>
                  <a:schemeClr val="accent6"/>
                </a:solidFill>
              </a:rPr>
              <a:t>THEME </a:t>
            </a:r>
            <a:r>
              <a:rPr lang="fr-FR" dirty="0">
                <a:solidFill>
                  <a:schemeClr val="accent6"/>
                </a:solidFill>
              </a:rPr>
              <a:t>B’</a:t>
            </a:r>
            <a:r>
              <a:rPr lang="fr-FR" dirty="0"/>
              <a:t>: </a:t>
            </a:r>
            <a:r>
              <a:rPr lang="fr-FR" dirty="0" smtClean="0"/>
              <a:t>B1’ [m105 </a:t>
            </a:r>
            <a:r>
              <a:rPr lang="fr-FR" dirty="0"/>
              <a:t>à </a:t>
            </a:r>
            <a:r>
              <a:rPr lang="fr-FR" dirty="0" smtClean="0"/>
              <a:t>m124] </a:t>
            </a:r>
            <a:r>
              <a:rPr lang="fr-FR" dirty="0"/>
              <a:t>–</a:t>
            </a:r>
            <a:r>
              <a:rPr lang="fr-FR" dirty="0" smtClean="0"/>
              <a:t> (</a:t>
            </a:r>
            <a:r>
              <a:rPr lang="fr-FR" dirty="0" err="1" smtClean="0"/>
              <a:t>laM</a:t>
            </a:r>
            <a:r>
              <a:rPr lang="fr-FR" dirty="0" smtClean="0"/>
              <a:t>)</a:t>
            </a:r>
          </a:p>
          <a:p>
            <a:r>
              <a:rPr lang="fr-FR" dirty="0">
                <a:solidFill>
                  <a:srgbClr val="C00000"/>
                </a:solidFill>
              </a:rPr>
              <a:t>PONT </a:t>
            </a:r>
            <a:r>
              <a:rPr lang="fr-FR" dirty="0" smtClean="0">
                <a:solidFill>
                  <a:srgbClr val="C00000"/>
                </a:solidFill>
              </a:rPr>
              <a:t>2 (ou C) </a:t>
            </a:r>
            <a:r>
              <a:rPr lang="fr-FR" i="1" dirty="0" err="1" smtClean="0">
                <a:solidFill>
                  <a:srgbClr val="C00000"/>
                </a:solidFill>
              </a:rPr>
              <a:t>sempre</a:t>
            </a:r>
            <a:r>
              <a:rPr lang="fr-FR" i="1" dirty="0" smtClean="0">
                <a:solidFill>
                  <a:srgbClr val="C00000"/>
                </a:solidFill>
              </a:rPr>
              <a:t> piu animato </a:t>
            </a:r>
            <a:r>
              <a:rPr lang="fr-FR" dirty="0" smtClean="0">
                <a:solidFill>
                  <a:srgbClr val="C00000"/>
                </a:solidFill>
              </a:rPr>
              <a:t>puis </a:t>
            </a:r>
            <a:r>
              <a:rPr lang="fr-FR" i="1" dirty="0" smtClean="0">
                <a:solidFill>
                  <a:srgbClr val="C00000"/>
                </a:solidFill>
              </a:rPr>
              <a:t>scherzando</a:t>
            </a:r>
            <a:r>
              <a:rPr lang="fr-FR" dirty="0" smtClean="0"/>
              <a:t>: </a:t>
            </a:r>
            <a:r>
              <a:rPr lang="fr-FR" dirty="0"/>
              <a:t>[</a:t>
            </a:r>
            <a:r>
              <a:rPr lang="fr-FR" dirty="0" smtClean="0"/>
              <a:t>m125 </a:t>
            </a:r>
            <a:r>
              <a:rPr lang="fr-FR" dirty="0"/>
              <a:t>à </a:t>
            </a:r>
            <a:r>
              <a:rPr lang="fr-FR" dirty="0" smtClean="0"/>
              <a:t>m164</a:t>
            </a:r>
            <a:r>
              <a:rPr lang="fr-FR" dirty="0"/>
              <a:t>] </a:t>
            </a:r>
            <a:r>
              <a:rPr lang="fr-FR" dirty="0" err="1" smtClean="0"/>
              <a:t>MibM</a:t>
            </a:r>
            <a:endParaRPr lang="fr-FR" dirty="0" smtClean="0"/>
          </a:p>
          <a:p>
            <a:r>
              <a:rPr lang="fr-FR" dirty="0">
                <a:solidFill>
                  <a:schemeClr val="accent6"/>
                </a:solidFill>
              </a:rPr>
              <a:t>THEME B’’</a:t>
            </a:r>
            <a:r>
              <a:rPr lang="fr-FR" dirty="0"/>
              <a:t>: B1’’ [</a:t>
            </a:r>
            <a:r>
              <a:rPr lang="fr-FR" dirty="0" smtClean="0"/>
              <a:t>m165 </a:t>
            </a:r>
            <a:r>
              <a:rPr lang="fr-FR" dirty="0"/>
              <a:t>à </a:t>
            </a:r>
            <a:r>
              <a:rPr lang="fr-FR" dirty="0" smtClean="0"/>
              <a:t>m178] – B2’’ </a:t>
            </a:r>
            <a:r>
              <a:rPr lang="fr-FR" dirty="0"/>
              <a:t>[</a:t>
            </a:r>
            <a:r>
              <a:rPr lang="fr-FR" dirty="0" smtClean="0"/>
              <a:t>m179 </a:t>
            </a:r>
            <a:r>
              <a:rPr lang="fr-FR" dirty="0"/>
              <a:t>à </a:t>
            </a:r>
            <a:r>
              <a:rPr lang="fr-FR" dirty="0" smtClean="0"/>
              <a:t>m192] </a:t>
            </a:r>
            <a:r>
              <a:rPr lang="fr-FR" dirty="0"/>
              <a:t>–</a:t>
            </a:r>
            <a:r>
              <a:rPr lang="fr-FR" dirty="0" smtClean="0"/>
              <a:t> (</a:t>
            </a:r>
            <a:r>
              <a:rPr lang="fr-FR" dirty="0" err="1" smtClean="0"/>
              <a:t>MibM</a:t>
            </a:r>
            <a:r>
              <a:rPr lang="fr-FR" dirty="0" smtClean="0"/>
              <a:t>)</a:t>
            </a:r>
          </a:p>
          <a:p>
            <a:r>
              <a:rPr lang="fr-FR" dirty="0">
                <a:solidFill>
                  <a:schemeClr val="accent1"/>
                </a:solidFill>
              </a:rPr>
              <a:t>THEME A</a:t>
            </a:r>
            <a:r>
              <a:rPr lang="fr-FR" dirty="0" smtClean="0">
                <a:solidFill>
                  <a:schemeClr val="accent1"/>
                </a:solidFill>
              </a:rPr>
              <a:t>’’ </a:t>
            </a:r>
            <a:r>
              <a:rPr lang="fr-FR" i="1" dirty="0" err="1" smtClean="0">
                <a:solidFill>
                  <a:schemeClr val="accent1"/>
                </a:solidFill>
              </a:rPr>
              <a:t>meno</a:t>
            </a:r>
            <a:r>
              <a:rPr lang="fr-FR" i="1" dirty="0" smtClean="0">
                <a:solidFill>
                  <a:schemeClr val="accent1"/>
                </a:solidFill>
              </a:rPr>
              <a:t> </a:t>
            </a:r>
            <a:r>
              <a:rPr lang="fr-FR" i="1" dirty="0" err="1" smtClean="0">
                <a:solidFill>
                  <a:schemeClr val="accent1"/>
                </a:solidFill>
              </a:rPr>
              <a:t>mosso</a:t>
            </a:r>
            <a:r>
              <a:rPr lang="fr-FR" dirty="0" smtClean="0"/>
              <a:t>: </a:t>
            </a:r>
            <a:r>
              <a:rPr lang="fr-FR" dirty="0"/>
              <a:t>[</a:t>
            </a:r>
            <a:r>
              <a:rPr lang="fr-FR" dirty="0" smtClean="0"/>
              <a:t>m193 </a:t>
            </a:r>
            <a:r>
              <a:rPr lang="fr-FR" dirty="0"/>
              <a:t>à </a:t>
            </a:r>
            <a:r>
              <a:rPr lang="fr-FR" dirty="0" smtClean="0"/>
              <a:t>m204] </a:t>
            </a:r>
            <a:r>
              <a:rPr lang="fr-FR" dirty="0"/>
              <a:t>–</a:t>
            </a:r>
            <a:r>
              <a:rPr lang="fr-FR" dirty="0" smtClean="0"/>
              <a:t> [</a:t>
            </a:r>
            <a:r>
              <a:rPr lang="fr-FR" dirty="0" err="1" smtClean="0"/>
              <a:t>solm</a:t>
            </a:r>
            <a:r>
              <a:rPr lang="fr-FR" dirty="0" smtClean="0"/>
              <a:t>]</a:t>
            </a:r>
          </a:p>
          <a:p>
            <a:pPr marL="0" indent="0">
              <a:buNone/>
            </a:pPr>
            <a:r>
              <a:rPr lang="fr-FR" b="1" u="sng" dirty="0" smtClean="0">
                <a:solidFill>
                  <a:srgbClr val="FFC000"/>
                </a:solidFill>
              </a:rPr>
              <a:t>CODA</a:t>
            </a:r>
            <a:r>
              <a:rPr lang="fr-FR" dirty="0" smtClean="0">
                <a:solidFill>
                  <a:srgbClr val="FFC000"/>
                </a:solidFill>
              </a:rPr>
              <a:t> (</a:t>
            </a:r>
            <a:r>
              <a:rPr lang="fr-FR" dirty="0" err="1" smtClean="0">
                <a:solidFill>
                  <a:srgbClr val="FFC000"/>
                </a:solidFill>
              </a:rPr>
              <a:t>ouD</a:t>
            </a:r>
            <a:r>
              <a:rPr lang="fr-FR" dirty="0" smtClean="0">
                <a:solidFill>
                  <a:srgbClr val="FFC000"/>
                </a:solidFill>
              </a:rPr>
              <a:t>) </a:t>
            </a:r>
            <a:r>
              <a:rPr lang="fr-FR" i="1" dirty="0" smtClean="0">
                <a:solidFill>
                  <a:srgbClr val="FFC000"/>
                </a:solidFill>
              </a:rPr>
              <a:t>presto con </a:t>
            </a:r>
            <a:r>
              <a:rPr lang="fr-FR" i="1" dirty="0" err="1" smtClean="0">
                <a:solidFill>
                  <a:srgbClr val="FFC000"/>
                </a:solidFill>
              </a:rPr>
              <a:t>fuco</a:t>
            </a:r>
            <a:r>
              <a:rPr lang="fr-FR" dirty="0" smtClean="0"/>
              <a:t>: </a:t>
            </a:r>
            <a:r>
              <a:rPr lang="fr-FR" dirty="0"/>
              <a:t>[</a:t>
            </a:r>
            <a:r>
              <a:rPr lang="fr-FR" dirty="0" smtClean="0"/>
              <a:t>m205 </a:t>
            </a:r>
            <a:r>
              <a:rPr lang="fr-FR" dirty="0"/>
              <a:t>à </a:t>
            </a:r>
            <a:r>
              <a:rPr lang="fr-FR" dirty="0" smtClean="0"/>
              <a:t>259] </a:t>
            </a:r>
            <a:r>
              <a:rPr lang="fr-FR" dirty="0"/>
              <a:t>– [</a:t>
            </a:r>
            <a:r>
              <a:rPr lang="fr-FR" dirty="0" err="1"/>
              <a:t>solm</a:t>
            </a:r>
            <a:r>
              <a:rPr lang="fr-FR" dirty="0"/>
              <a:t>]</a:t>
            </a:r>
          </a:p>
        </p:txBody>
      </p:sp>
    </p:spTree>
    <p:extLst>
      <p:ext uri="{BB962C8B-B14F-4D97-AF65-F5344CB8AC3E}">
        <p14:creationId xmlns:p14="http://schemas.microsoft.com/office/powerpoint/2010/main" val="663338502"/>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sp>
        <p:nvSpPr>
          <p:cNvPr id="2" name="Titre 1"/>
          <p:cNvSpPr>
            <a:spLocks noGrp="1"/>
          </p:cNvSpPr>
          <p:nvPr>
            <p:ph type="title"/>
          </p:nvPr>
        </p:nvSpPr>
        <p:spPr/>
        <p:txBody>
          <a:bodyPr/>
          <a:lstStyle/>
          <a:p>
            <a:pPr algn="ctr"/>
            <a:r>
              <a:rPr lang="fr-FR" b="1" dirty="0" smtClean="0">
                <a:solidFill>
                  <a:schemeClr val="accent5"/>
                </a:solidFill>
              </a:rPr>
              <a:t>Points d’intérêts retrouvés</a:t>
            </a:r>
            <a:br>
              <a:rPr lang="fr-FR" b="1" dirty="0" smtClean="0">
                <a:solidFill>
                  <a:schemeClr val="accent5"/>
                </a:solidFill>
              </a:rPr>
            </a:br>
            <a:r>
              <a:rPr lang="fr-FR" sz="4000" b="1" u="sng" dirty="0">
                <a:solidFill>
                  <a:srgbClr val="FFC000"/>
                </a:solidFill>
              </a:rPr>
              <a:t>INTRO</a:t>
            </a:r>
            <a:r>
              <a:rPr lang="fr-FR" sz="4000" dirty="0">
                <a:solidFill>
                  <a:srgbClr val="FFC000"/>
                </a:solidFill>
              </a:rPr>
              <a:t> </a:t>
            </a:r>
            <a:r>
              <a:rPr lang="fr-FR" sz="4000" i="1" dirty="0">
                <a:solidFill>
                  <a:schemeClr val="accent4"/>
                </a:solidFill>
              </a:rPr>
              <a:t>largo</a:t>
            </a:r>
            <a:r>
              <a:rPr lang="fr-FR" sz="4000" dirty="0"/>
              <a:t>: [m1 à m7]</a:t>
            </a:r>
            <a:endParaRPr lang="fr-FR" sz="4000" b="1" dirty="0">
              <a:solidFill>
                <a:srgbClr val="00B0F0"/>
              </a:solidFill>
            </a:endParaRPr>
          </a:p>
        </p:txBody>
      </p:sp>
      <p:sp>
        <p:nvSpPr>
          <p:cNvPr id="5" name="Espace réservé du contenu 4"/>
          <p:cNvSpPr>
            <a:spLocks noGrp="1"/>
          </p:cNvSpPr>
          <p:nvPr>
            <p:ph sz="half" idx="2"/>
          </p:nvPr>
        </p:nvSpPr>
        <p:spPr>
          <a:xfrm>
            <a:off x="8080130" y="1913061"/>
            <a:ext cx="3837840" cy="4068274"/>
          </a:xfrm>
        </p:spPr>
        <p:txBody>
          <a:bodyPr>
            <a:normAutofit fontScale="55000" lnSpcReduction="20000"/>
          </a:bodyPr>
          <a:lstStyle/>
          <a:p>
            <a:r>
              <a:rPr lang="fr-FR" dirty="0" smtClean="0"/>
              <a:t>La partition s’ouvre sur une sixte napolitaine. La tonique (sol) n’apparait qu’à la 3</a:t>
            </a:r>
            <a:r>
              <a:rPr lang="fr-FR" baseline="30000" dirty="0" smtClean="0"/>
              <a:t>ème</a:t>
            </a:r>
            <a:r>
              <a:rPr lang="fr-FR" dirty="0" smtClean="0"/>
              <a:t> mesure, toujours dans l’accord de sixte, ce qui apporte un certain flou sur la tonalité. On comprend le </a:t>
            </a:r>
            <a:r>
              <a:rPr lang="fr-FR" dirty="0" err="1" smtClean="0"/>
              <a:t>solm</a:t>
            </a:r>
            <a:r>
              <a:rPr lang="fr-FR" dirty="0" smtClean="0"/>
              <a:t> avec l’arrivée du Fa# (note sensible) à la fin de la m3. L’accord I apparait tardivement, à la fin de l’intro, dans un renversement avec 9</a:t>
            </a:r>
            <a:r>
              <a:rPr lang="fr-FR" baseline="30000" dirty="0" smtClean="0"/>
              <a:t>ème</a:t>
            </a:r>
            <a:r>
              <a:rPr lang="fr-FR" dirty="0" smtClean="0"/>
              <a:t>. Il faut attendre le début du thème pour avoir l’accord de tonique dans sa forme fondamentale.</a:t>
            </a:r>
          </a:p>
          <a:p>
            <a:r>
              <a:rPr lang="fr-FR" dirty="0" smtClean="0"/>
              <a:t>Mesure en 4/4: atypique dans la ballade. </a:t>
            </a:r>
          </a:p>
          <a:p>
            <a:r>
              <a:rPr lang="fr-FR" dirty="0" smtClean="0"/>
              <a:t>Cette intro avec une harmonie incertaine, la mesure en 4/4, le jeu en octave interroge l’auditeur et le place dans une ambiance suspensive, presque irréelle, poétique.</a:t>
            </a:r>
            <a:endParaRPr lang="fr-FR" dirty="0"/>
          </a:p>
          <a:p>
            <a:r>
              <a:rPr lang="fr-FR" dirty="0" smtClean="0"/>
              <a:t>Les nuances sont d’emblée très contrastée, alliant déjà l’épique au lyrisme et nécessitant une virtuosité dans l’interprétation. </a:t>
            </a:r>
          </a:p>
        </p:txBody>
      </p:sp>
      <p:pic>
        <p:nvPicPr>
          <p:cNvPr id="6" name="Espace réservé du contenu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984500" y="1884119"/>
            <a:ext cx="6993292" cy="3681412"/>
          </a:xfrm>
        </p:spPr>
      </p:pic>
    </p:spTree>
    <p:extLst>
      <p:ext uri="{BB962C8B-B14F-4D97-AF65-F5344CB8AC3E}">
        <p14:creationId xmlns:p14="http://schemas.microsoft.com/office/powerpoint/2010/main" val="4196109129"/>
      </p:ext>
    </p:extLst>
  </p:cSld>
  <p:clrMapOvr>
    <a:masterClrMapping/>
  </p:clrMapOvr>
  <p:transition spd="med">
    <p:zoom dir="in"/>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jpg"/>
          <p:cNvPicPr>
            <a:picLocks noChangeAspect="1"/>
          </p:cNvPicPr>
          <p:nvPr/>
        </p:nvPicPr>
        <p:blipFill>
          <a:blip r:embed="rId2"/>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000" b="1" dirty="0">
                <a:solidFill>
                  <a:schemeClr val="accent1"/>
                </a:solidFill>
              </a:rPr>
              <a:t>THEME A</a:t>
            </a:r>
            <a:r>
              <a:rPr lang="fr-FR" sz="4000" dirty="0">
                <a:solidFill>
                  <a:schemeClr val="accent1"/>
                </a:solidFill>
              </a:rPr>
              <a:t> </a:t>
            </a:r>
            <a:r>
              <a:rPr lang="fr-FR" sz="4000" i="1" dirty="0">
                <a:solidFill>
                  <a:schemeClr val="accent1"/>
                </a:solidFill>
              </a:rPr>
              <a:t>moderato</a:t>
            </a:r>
            <a:r>
              <a:rPr lang="fr-FR" sz="4000" dirty="0"/>
              <a:t>: [m8 à m34]</a:t>
            </a:r>
            <a:endParaRPr lang="fr-FR" sz="4000" b="1" dirty="0">
              <a:solidFill>
                <a:srgbClr val="00B0F0"/>
              </a:solidFill>
            </a:endParaRPr>
          </a:p>
        </p:txBody>
      </p:sp>
      <p:sp>
        <p:nvSpPr>
          <p:cNvPr id="5" name="Espace réservé du contenu 4"/>
          <p:cNvSpPr>
            <a:spLocks noGrp="1"/>
          </p:cNvSpPr>
          <p:nvPr>
            <p:ph sz="half" idx="2"/>
          </p:nvPr>
        </p:nvSpPr>
        <p:spPr>
          <a:xfrm>
            <a:off x="2023695" y="1534998"/>
            <a:ext cx="8971085" cy="4065701"/>
          </a:xfrm>
        </p:spPr>
        <p:txBody>
          <a:bodyPr/>
          <a:lstStyle/>
          <a:p>
            <a:r>
              <a:rPr lang="fr-FR" dirty="0" err="1" smtClean="0"/>
              <a:t>Solm</a:t>
            </a:r>
            <a:endParaRPr lang="fr-FR" dirty="0" smtClean="0"/>
          </a:p>
          <a:p>
            <a:r>
              <a:rPr lang="fr-FR" dirty="0" smtClean="0"/>
              <a:t>Passage en 6/4, caractéristique de la ballade, </a:t>
            </a:r>
          </a:p>
          <a:p>
            <a:r>
              <a:rPr lang="fr-FR" dirty="0" smtClean="0"/>
              <a:t>Présence de silence, créant des cassures dans la mélodie qui reste en suspend. Interruptions dans le discours mélodique, ce qui met de nouveau l’auditeur en attente. </a:t>
            </a:r>
          </a:p>
          <a:p>
            <a:r>
              <a:rPr lang="fr-FR" dirty="0" smtClean="0"/>
              <a:t>Le passage s’intensifie pour arriver au premier pont, plus agité.</a:t>
            </a:r>
            <a:endParaRPr lang="fr-FR" dirty="0"/>
          </a:p>
          <a:p>
            <a:endParaRPr lang="fr-FR" dirty="0" smtClean="0"/>
          </a:p>
          <a:p>
            <a:endParaRPr lang="fr-FR" dirty="0"/>
          </a:p>
        </p:txBody>
      </p:sp>
    </p:spTree>
    <p:extLst>
      <p:ext uri="{BB962C8B-B14F-4D97-AF65-F5344CB8AC3E}">
        <p14:creationId xmlns:p14="http://schemas.microsoft.com/office/powerpoint/2010/main" val="1680865238"/>
      </p:ext>
    </p:extLst>
  </p:cSld>
  <p:clrMapOvr>
    <a:masterClrMapping/>
  </p:clrMapOvr>
  <p:transition spd="med">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000" b="1" dirty="0">
                <a:solidFill>
                  <a:schemeClr val="accent6"/>
                </a:solidFill>
              </a:rPr>
              <a:t>THEME B </a:t>
            </a:r>
            <a:r>
              <a:rPr lang="fr-FR" sz="4000" i="1" dirty="0" err="1">
                <a:solidFill>
                  <a:schemeClr val="accent6"/>
                </a:solidFill>
              </a:rPr>
              <a:t>meno</a:t>
            </a:r>
            <a:r>
              <a:rPr lang="fr-FR" sz="4000" i="1" dirty="0">
                <a:solidFill>
                  <a:schemeClr val="accent6"/>
                </a:solidFill>
              </a:rPr>
              <a:t> </a:t>
            </a:r>
            <a:r>
              <a:rPr lang="fr-FR" sz="4000" i="1" dirty="0" err="1">
                <a:solidFill>
                  <a:schemeClr val="accent6"/>
                </a:solidFill>
              </a:rPr>
              <a:t>mosso</a:t>
            </a:r>
            <a:r>
              <a:rPr lang="fr-FR" sz="4000" dirty="0"/>
              <a:t>: B1 [m67 à </a:t>
            </a:r>
            <a:r>
              <a:rPr lang="fr-FR" sz="4000" dirty="0" smtClean="0"/>
              <a:t>m82]</a:t>
            </a:r>
            <a:endParaRPr lang="fr-FR" sz="4000" dirty="0"/>
          </a:p>
        </p:txBody>
      </p:sp>
      <p:sp>
        <p:nvSpPr>
          <p:cNvPr id="6" name="Espace réservé du contenu 5"/>
          <p:cNvSpPr>
            <a:spLocks noGrp="1"/>
          </p:cNvSpPr>
          <p:nvPr>
            <p:ph sz="half" idx="2"/>
          </p:nvPr>
        </p:nvSpPr>
        <p:spPr>
          <a:xfrm>
            <a:off x="7339252" y="1825625"/>
            <a:ext cx="4014548" cy="4351338"/>
          </a:xfrm>
        </p:spPr>
        <p:txBody>
          <a:bodyPr/>
          <a:lstStyle/>
          <a:p>
            <a:r>
              <a:rPr lang="fr-FR" dirty="0" err="1"/>
              <a:t>MibM</a:t>
            </a:r>
            <a:r>
              <a:rPr lang="fr-FR" dirty="0"/>
              <a:t> (ton du VI)</a:t>
            </a:r>
          </a:p>
          <a:p>
            <a:r>
              <a:rPr lang="fr-FR" dirty="0"/>
              <a:t>Chutes de quintes à la basse</a:t>
            </a:r>
          </a:p>
          <a:p>
            <a:endParaRPr lang="fr-FR" dirty="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8317" y="1690688"/>
            <a:ext cx="6501052" cy="3965331"/>
          </a:xfrm>
          <a:prstGeom prst="rect">
            <a:avLst/>
          </a:prstGeom>
        </p:spPr>
      </p:pic>
    </p:spTree>
    <p:extLst>
      <p:ext uri="{BB962C8B-B14F-4D97-AF65-F5344CB8AC3E}">
        <p14:creationId xmlns:p14="http://schemas.microsoft.com/office/powerpoint/2010/main" val="1902010072"/>
      </p:ext>
    </p:extLst>
  </p:cSld>
  <p:clrMapOvr>
    <a:masterClrMapping/>
  </p:clrMapOvr>
  <p:transition spd="med">
    <p:push dir="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000" b="1" dirty="0">
                <a:solidFill>
                  <a:schemeClr val="accent6"/>
                </a:solidFill>
              </a:rPr>
              <a:t>THEME B </a:t>
            </a:r>
            <a:r>
              <a:rPr lang="fr-FR" sz="4000" i="1" dirty="0" err="1">
                <a:solidFill>
                  <a:schemeClr val="accent6"/>
                </a:solidFill>
              </a:rPr>
              <a:t>meno</a:t>
            </a:r>
            <a:r>
              <a:rPr lang="fr-FR" sz="4000" i="1" dirty="0">
                <a:solidFill>
                  <a:schemeClr val="accent6"/>
                </a:solidFill>
              </a:rPr>
              <a:t> </a:t>
            </a:r>
            <a:r>
              <a:rPr lang="fr-FR" sz="4000" i="1" dirty="0" err="1">
                <a:solidFill>
                  <a:schemeClr val="accent6"/>
                </a:solidFill>
              </a:rPr>
              <a:t>mosso</a:t>
            </a:r>
            <a:r>
              <a:rPr lang="fr-FR" sz="4000" dirty="0"/>
              <a:t>: </a:t>
            </a:r>
            <a:r>
              <a:rPr lang="fr-FR" sz="4000" dirty="0" smtClean="0"/>
              <a:t>B2 </a:t>
            </a:r>
            <a:r>
              <a:rPr lang="fr-FR" sz="4000" dirty="0"/>
              <a:t>[</a:t>
            </a:r>
            <a:r>
              <a:rPr lang="fr-FR" sz="4000" dirty="0" smtClean="0"/>
              <a:t>m82 </a:t>
            </a:r>
            <a:r>
              <a:rPr lang="fr-FR" sz="4000" dirty="0"/>
              <a:t>à </a:t>
            </a:r>
            <a:r>
              <a:rPr lang="fr-FR" sz="4000" dirty="0" smtClean="0"/>
              <a:t>m93]</a:t>
            </a:r>
            <a:endParaRPr lang="fr-FR" sz="4000" dirty="0"/>
          </a:p>
        </p:txBody>
      </p:sp>
      <p:sp>
        <p:nvSpPr>
          <p:cNvPr id="6" name="Espace réservé du contenu 5"/>
          <p:cNvSpPr>
            <a:spLocks noGrp="1"/>
          </p:cNvSpPr>
          <p:nvPr>
            <p:ph sz="half" idx="2"/>
          </p:nvPr>
        </p:nvSpPr>
        <p:spPr>
          <a:xfrm>
            <a:off x="7339252" y="1825625"/>
            <a:ext cx="4014548" cy="4351338"/>
          </a:xfrm>
        </p:spPr>
        <p:txBody>
          <a:bodyPr/>
          <a:lstStyle/>
          <a:p>
            <a:r>
              <a:rPr lang="fr-FR" dirty="0" err="1"/>
              <a:t>MibM</a:t>
            </a:r>
            <a:r>
              <a:rPr lang="fr-FR" dirty="0"/>
              <a:t> (ton du VI)</a:t>
            </a:r>
          </a:p>
          <a:p>
            <a:r>
              <a:rPr lang="fr-FR" dirty="0" smtClean="0"/>
              <a:t>Pédale de I à la basse</a:t>
            </a:r>
          </a:p>
          <a:p>
            <a:r>
              <a:rPr lang="fr-FR" dirty="0" smtClean="0"/>
              <a:t>Rappel du sib de l’intro à la main droite.</a:t>
            </a:r>
            <a:endParaRPr lang="fr-FR" dirty="0"/>
          </a:p>
          <a:p>
            <a:endParaRPr lang="fr-FR" dirty="0"/>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783" y="1619943"/>
            <a:ext cx="6778325" cy="3857664"/>
          </a:xfrm>
          <a:prstGeom prst="rect">
            <a:avLst/>
          </a:prstGeom>
        </p:spPr>
      </p:pic>
    </p:spTree>
    <p:extLst>
      <p:ext uri="{BB962C8B-B14F-4D97-AF65-F5344CB8AC3E}">
        <p14:creationId xmlns:p14="http://schemas.microsoft.com/office/powerpoint/2010/main" val="1900712403"/>
      </p:ext>
    </p:extLst>
  </p:cSld>
  <p:clrMapOvr>
    <a:masterClrMapping/>
  </p:clrMapOvr>
  <p:transition spd="med">
    <p:split dir="in" orient="horz"/>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000" b="1" dirty="0">
                <a:solidFill>
                  <a:schemeClr val="accent1"/>
                </a:solidFill>
              </a:rPr>
              <a:t>THEME A’ </a:t>
            </a:r>
            <a:r>
              <a:rPr lang="fr-FR" sz="4000" i="1" dirty="0">
                <a:solidFill>
                  <a:schemeClr val="accent1"/>
                </a:solidFill>
              </a:rPr>
              <a:t>a tempo</a:t>
            </a:r>
            <a:r>
              <a:rPr lang="fr-FR" sz="4000" dirty="0"/>
              <a:t>: [m94 à m105]</a:t>
            </a:r>
          </a:p>
        </p:txBody>
      </p:sp>
      <p:sp>
        <p:nvSpPr>
          <p:cNvPr id="6" name="Espace réservé du contenu 5"/>
          <p:cNvSpPr>
            <a:spLocks noGrp="1"/>
          </p:cNvSpPr>
          <p:nvPr>
            <p:ph sz="half" idx="2"/>
          </p:nvPr>
        </p:nvSpPr>
        <p:spPr>
          <a:xfrm>
            <a:off x="7339252" y="1825625"/>
            <a:ext cx="4014548" cy="4351338"/>
          </a:xfrm>
        </p:spPr>
        <p:txBody>
          <a:bodyPr/>
          <a:lstStyle/>
          <a:p>
            <a:r>
              <a:rPr lang="fr-FR" dirty="0" err="1" smtClean="0"/>
              <a:t>lam</a:t>
            </a:r>
            <a:r>
              <a:rPr lang="fr-FR" dirty="0" smtClean="0"/>
              <a:t> </a:t>
            </a:r>
            <a:r>
              <a:rPr lang="fr-FR" dirty="0"/>
              <a:t>(ton </a:t>
            </a:r>
            <a:r>
              <a:rPr lang="fr-FR" dirty="0" smtClean="0"/>
              <a:t>du II)</a:t>
            </a:r>
            <a:endParaRPr lang="fr-FR" dirty="0"/>
          </a:p>
          <a:p>
            <a:r>
              <a:rPr lang="fr-FR" dirty="0" smtClean="0"/>
              <a:t>Pédale de V à la basse</a:t>
            </a:r>
          </a:p>
          <a:p>
            <a:r>
              <a:rPr lang="fr-FR" dirty="0" smtClean="0"/>
              <a:t>Reprise du tempo initial.</a:t>
            </a:r>
            <a:endParaRPr lang="fr-FR" dirty="0"/>
          </a:p>
          <a:p>
            <a:endParaRPr lang="fr-FR" dirty="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199" y="1496634"/>
            <a:ext cx="6421709" cy="3752373"/>
          </a:xfrm>
          <a:prstGeom prst="rect">
            <a:avLst/>
          </a:prstGeom>
        </p:spPr>
      </p:pic>
    </p:spTree>
    <p:extLst>
      <p:ext uri="{BB962C8B-B14F-4D97-AF65-F5344CB8AC3E}">
        <p14:creationId xmlns:p14="http://schemas.microsoft.com/office/powerpoint/2010/main" val="3147313787"/>
      </p:ext>
    </p:extLst>
  </p:cSld>
  <p:clrMapOvr>
    <a:masterClrMapping/>
  </p:clrMapOvr>
  <p:transition spd="med">
    <p:wipe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000" b="1" dirty="0">
                <a:solidFill>
                  <a:srgbClr val="C00000"/>
                </a:solidFill>
              </a:rPr>
              <a:t>PONT 2</a:t>
            </a:r>
            <a:r>
              <a:rPr lang="fr-FR" sz="4000" dirty="0">
                <a:solidFill>
                  <a:srgbClr val="C00000"/>
                </a:solidFill>
              </a:rPr>
              <a:t> (ou C) </a:t>
            </a:r>
            <a:r>
              <a:rPr lang="fr-FR" sz="4000" i="1" dirty="0" err="1">
                <a:solidFill>
                  <a:srgbClr val="C00000"/>
                </a:solidFill>
              </a:rPr>
              <a:t>sempre</a:t>
            </a:r>
            <a:r>
              <a:rPr lang="fr-FR" sz="4000" i="1" dirty="0">
                <a:solidFill>
                  <a:srgbClr val="C00000"/>
                </a:solidFill>
              </a:rPr>
              <a:t> piu animato </a:t>
            </a:r>
            <a:r>
              <a:rPr lang="fr-FR" sz="4000" dirty="0">
                <a:solidFill>
                  <a:srgbClr val="C00000"/>
                </a:solidFill>
              </a:rPr>
              <a:t>puis </a:t>
            </a:r>
            <a:r>
              <a:rPr lang="fr-FR" sz="4000" i="1" dirty="0">
                <a:solidFill>
                  <a:srgbClr val="C00000"/>
                </a:solidFill>
              </a:rPr>
              <a:t>scherzando</a:t>
            </a:r>
            <a:r>
              <a:rPr lang="fr-FR" sz="4000" dirty="0"/>
              <a:t>: [m125 à m164</a:t>
            </a:r>
            <a:r>
              <a:rPr lang="fr-FR" sz="4000" dirty="0" smtClean="0"/>
              <a:t>]</a:t>
            </a:r>
            <a:endParaRPr lang="fr-FR" sz="4000" dirty="0"/>
          </a:p>
        </p:txBody>
      </p:sp>
      <p:sp>
        <p:nvSpPr>
          <p:cNvPr id="6" name="Espace réservé du contenu 5"/>
          <p:cNvSpPr>
            <a:spLocks noGrp="1"/>
          </p:cNvSpPr>
          <p:nvPr>
            <p:ph sz="half" idx="2"/>
          </p:nvPr>
        </p:nvSpPr>
        <p:spPr>
          <a:xfrm>
            <a:off x="7339252" y="1825625"/>
            <a:ext cx="4014548" cy="4351338"/>
          </a:xfrm>
        </p:spPr>
        <p:txBody>
          <a:bodyPr/>
          <a:lstStyle/>
          <a:p>
            <a:r>
              <a:rPr lang="fr-FR" dirty="0" err="1" smtClean="0"/>
              <a:t>mibM</a:t>
            </a:r>
            <a:r>
              <a:rPr lang="fr-FR" dirty="0" smtClean="0"/>
              <a:t> </a:t>
            </a:r>
            <a:r>
              <a:rPr lang="fr-FR" dirty="0"/>
              <a:t>(ton du </a:t>
            </a:r>
            <a:r>
              <a:rPr lang="fr-FR" dirty="0" smtClean="0"/>
              <a:t>VI)</a:t>
            </a:r>
            <a:endParaRPr lang="fr-FR" dirty="0"/>
          </a:p>
          <a:p>
            <a:r>
              <a:rPr lang="fr-FR" dirty="0" smtClean="0"/>
              <a:t>Pédale de V à la basse</a:t>
            </a:r>
          </a:p>
          <a:p>
            <a:r>
              <a:rPr lang="fr-FR" dirty="0" smtClean="0"/>
              <a:t>Reprise d’éléments du pont 1 dans le scherzando, créant une symétrie. </a:t>
            </a:r>
            <a:endParaRPr lang="fr-FR" dirty="0"/>
          </a:p>
          <a:p>
            <a:endParaRPr lang="fr-FR" dirty="0"/>
          </a:p>
        </p:txBody>
      </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88124" y="1825625"/>
            <a:ext cx="3947745" cy="4808250"/>
          </a:xfrm>
          <a:prstGeom prst="rect">
            <a:avLst/>
          </a:prstGeom>
        </p:spPr>
      </p:pic>
    </p:spTree>
    <p:extLst>
      <p:ext uri="{BB962C8B-B14F-4D97-AF65-F5344CB8AC3E}">
        <p14:creationId xmlns:p14="http://schemas.microsoft.com/office/powerpoint/2010/main" val="2491461943"/>
      </p:ext>
    </p:extLst>
  </p:cSld>
  <p:clrMapOvr>
    <a:masterClrMapping/>
  </p:clrMapOvr>
  <p:transition spd="med">
    <p:checker dir="horz"/>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sp>
        <p:nvSpPr>
          <p:cNvPr id="2" name="Titre 1"/>
          <p:cNvSpPr>
            <a:spLocks noGrp="1"/>
          </p:cNvSpPr>
          <p:nvPr>
            <p:ph type="title"/>
          </p:nvPr>
        </p:nvSpPr>
        <p:spPr/>
        <p:txBody>
          <a:bodyPr>
            <a:normAutofit/>
          </a:bodyPr>
          <a:lstStyle/>
          <a:p>
            <a:pPr algn="ctr"/>
            <a:r>
              <a:rPr lang="fr-FR" sz="4000" b="1" u="sng" dirty="0">
                <a:solidFill>
                  <a:srgbClr val="FFC000"/>
                </a:solidFill>
              </a:rPr>
              <a:t>CODA</a:t>
            </a:r>
            <a:r>
              <a:rPr lang="fr-FR" sz="4000" dirty="0">
                <a:solidFill>
                  <a:srgbClr val="FFC000"/>
                </a:solidFill>
              </a:rPr>
              <a:t> (</a:t>
            </a:r>
            <a:r>
              <a:rPr lang="fr-FR" sz="4000" dirty="0" err="1">
                <a:solidFill>
                  <a:srgbClr val="FFC000"/>
                </a:solidFill>
              </a:rPr>
              <a:t>ouD</a:t>
            </a:r>
            <a:r>
              <a:rPr lang="fr-FR" sz="4000" dirty="0">
                <a:solidFill>
                  <a:srgbClr val="FFC000"/>
                </a:solidFill>
              </a:rPr>
              <a:t>) </a:t>
            </a:r>
            <a:r>
              <a:rPr lang="fr-FR" sz="4000" i="1" dirty="0">
                <a:solidFill>
                  <a:srgbClr val="FFC000"/>
                </a:solidFill>
              </a:rPr>
              <a:t>presto con </a:t>
            </a:r>
            <a:r>
              <a:rPr lang="fr-FR" sz="4000" i="1" dirty="0" err="1">
                <a:solidFill>
                  <a:srgbClr val="FFC000"/>
                </a:solidFill>
              </a:rPr>
              <a:t>fuco</a:t>
            </a:r>
            <a:r>
              <a:rPr lang="fr-FR" sz="4000" dirty="0"/>
              <a:t>: [</a:t>
            </a:r>
            <a:r>
              <a:rPr lang="fr-FR" sz="4000" dirty="0" smtClean="0"/>
              <a:t>m208 </a:t>
            </a:r>
            <a:r>
              <a:rPr lang="fr-FR" sz="4000" dirty="0"/>
              <a:t>à </a:t>
            </a:r>
            <a:r>
              <a:rPr lang="fr-FR" sz="4000" dirty="0" smtClean="0"/>
              <a:t>la fin]</a:t>
            </a:r>
            <a:endParaRPr lang="fr-FR" sz="4000" dirty="0"/>
          </a:p>
        </p:txBody>
      </p:sp>
      <p:sp>
        <p:nvSpPr>
          <p:cNvPr id="6" name="Espace réservé du contenu 5"/>
          <p:cNvSpPr>
            <a:spLocks noGrp="1"/>
          </p:cNvSpPr>
          <p:nvPr>
            <p:ph sz="half" idx="2"/>
          </p:nvPr>
        </p:nvSpPr>
        <p:spPr>
          <a:xfrm>
            <a:off x="7339252" y="1825625"/>
            <a:ext cx="4014548" cy="4351338"/>
          </a:xfrm>
        </p:spPr>
        <p:txBody>
          <a:bodyPr>
            <a:normAutofit fontScale="92500"/>
          </a:bodyPr>
          <a:lstStyle/>
          <a:p>
            <a:r>
              <a:rPr lang="fr-FR" dirty="0" err="1" smtClean="0"/>
              <a:t>solm</a:t>
            </a:r>
            <a:r>
              <a:rPr lang="fr-FR" dirty="0" smtClean="0"/>
              <a:t> </a:t>
            </a:r>
            <a:r>
              <a:rPr lang="fr-FR" dirty="0"/>
              <a:t>(ton </a:t>
            </a:r>
            <a:r>
              <a:rPr lang="fr-FR" dirty="0" smtClean="0"/>
              <a:t>principal)</a:t>
            </a:r>
            <a:endParaRPr lang="fr-FR" dirty="0"/>
          </a:p>
          <a:p>
            <a:r>
              <a:rPr lang="fr-FR" dirty="0" smtClean="0"/>
              <a:t>Final virtuose avec une grande intensité dramatique, très virtuose.</a:t>
            </a:r>
          </a:p>
          <a:p>
            <a:r>
              <a:rPr lang="fr-FR" dirty="0" smtClean="0"/>
              <a:t>Contrastes marqués dans les nuances et le jeu entre gamme chromatique et accord plaqué.</a:t>
            </a:r>
          </a:p>
          <a:p>
            <a:r>
              <a:rPr lang="fr-FR" dirty="0" smtClean="0"/>
              <a:t>Dernières mesures en octaves. </a:t>
            </a:r>
          </a:p>
          <a:p>
            <a:endParaRPr lang="fr-FR" dirty="0" smtClean="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6092" y="1690687"/>
            <a:ext cx="3578470" cy="4771293"/>
          </a:xfrm>
          <a:prstGeom prst="rect">
            <a:avLst/>
          </a:prstGeom>
        </p:spPr>
      </p:pic>
    </p:spTree>
    <p:extLst>
      <p:ext uri="{BB962C8B-B14F-4D97-AF65-F5344CB8AC3E}">
        <p14:creationId xmlns:p14="http://schemas.microsoft.com/office/powerpoint/2010/main" val="471727134"/>
      </p:ext>
    </p:extLst>
  </p:cSld>
  <p:clrMapOvr>
    <a:masterClrMapping/>
  </p:clrMapOvr>
  <p:transition spd="med">
    <p:zoom dir="o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6"/>
          <a:stretch>
            <a:fillRect/>
          </a:stretch>
        </p:blipFill>
        <p:spPr>
          <a:xfrm>
            <a:off x="0" y="0"/>
            <a:ext cx="12192000" cy="6858000"/>
          </a:xfrm>
          <a:prstGeom prst="rect">
            <a:avLst/>
          </a:prstGeom>
        </p:spPr>
      </p:pic>
      <p:sp>
        <p:nvSpPr>
          <p:cNvPr id="2" name="Titre 1"/>
          <p:cNvSpPr>
            <a:spLocks noGrp="1"/>
          </p:cNvSpPr>
          <p:nvPr>
            <p:ph type="title"/>
          </p:nvPr>
        </p:nvSpPr>
        <p:spPr/>
        <p:txBody>
          <a:bodyPr/>
          <a:lstStyle/>
          <a:p>
            <a:pPr algn="ctr"/>
            <a:r>
              <a:rPr lang="fr-FR" b="1" dirty="0" smtClean="0">
                <a:solidFill>
                  <a:schemeClr val="accent6"/>
                </a:solidFill>
              </a:rPr>
              <a:t>Sources</a:t>
            </a:r>
            <a:endParaRPr lang="fr-FR" b="1" dirty="0">
              <a:solidFill>
                <a:schemeClr val="accent6"/>
              </a:solidFill>
            </a:endParaRPr>
          </a:p>
        </p:txBody>
      </p:sp>
      <p:sp>
        <p:nvSpPr>
          <p:cNvPr id="3" name="Espace réservé du contenu 2"/>
          <p:cNvSpPr>
            <a:spLocks noGrp="1"/>
          </p:cNvSpPr>
          <p:nvPr>
            <p:ph idx="1"/>
          </p:nvPr>
        </p:nvSpPr>
        <p:spPr/>
        <p:txBody>
          <a:bodyPr/>
          <a:lstStyle/>
          <a:p>
            <a:r>
              <a:rPr lang="fr-FR" dirty="0" smtClean="0"/>
              <a:t>Livres:</a:t>
            </a:r>
          </a:p>
          <a:p>
            <a:pPr lvl="1"/>
            <a:r>
              <a:rPr lang="fr-FR" dirty="0" smtClean="0"/>
              <a:t>Le guides des genres de la musique occidentale – E. de Montalembert et C. </a:t>
            </a:r>
            <a:r>
              <a:rPr lang="fr-FR" dirty="0" err="1" smtClean="0"/>
              <a:t>Abromont</a:t>
            </a:r>
            <a:endParaRPr lang="fr-FR" dirty="0" smtClean="0"/>
          </a:p>
          <a:p>
            <a:pPr lvl="1"/>
            <a:r>
              <a:rPr lang="fr-FR" dirty="0" smtClean="0"/>
              <a:t>Histoire de la musique occidentale – Brigitte et Jean </a:t>
            </a:r>
            <a:r>
              <a:rPr lang="fr-FR" dirty="0" err="1" smtClean="0"/>
              <a:t>Massin</a:t>
            </a:r>
            <a:endParaRPr lang="fr-FR" dirty="0" smtClean="0"/>
          </a:p>
          <a:p>
            <a:endParaRPr lang="fr-FR" dirty="0" smtClean="0"/>
          </a:p>
          <a:p>
            <a:r>
              <a:rPr lang="fr-FR" dirty="0" smtClean="0"/>
              <a:t>Sites internet:</a:t>
            </a:r>
          </a:p>
          <a:p>
            <a:pPr lvl="1"/>
            <a:r>
              <a:rPr lang="fr-FR" dirty="0">
                <a:hlinkClick r:id="rId2"/>
              </a:rPr>
              <a:t>https://</a:t>
            </a:r>
            <a:r>
              <a:rPr lang="fr-FR" dirty="0" smtClean="0">
                <a:hlinkClick r:id="rId2"/>
              </a:rPr>
              <a:t>musopen.org/fr/music/603-ballade-no-1-op-23/</a:t>
            </a:r>
            <a:endParaRPr lang="fr-FR" dirty="0" smtClean="0"/>
          </a:p>
          <a:p>
            <a:pPr lvl="1"/>
            <a:r>
              <a:rPr lang="fr-FR" dirty="0">
                <a:hlinkClick r:id="rId3"/>
              </a:rPr>
              <a:t>https://pianiste.fr/la-lecon-la-ballade-un-recit-musical</a:t>
            </a:r>
            <a:r>
              <a:rPr lang="fr-FR" dirty="0" smtClean="0">
                <a:hlinkClick r:id="rId3"/>
              </a:rPr>
              <a:t>/</a:t>
            </a:r>
            <a:endParaRPr lang="fr-FR" dirty="0" smtClean="0"/>
          </a:p>
          <a:p>
            <a:pPr lvl="1"/>
            <a:r>
              <a:rPr lang="fr-FR" dirty="0">
                <a:hlinkClick r:id="rId4"/>
              </a:rPr>
              <a:t>https://tonic-chord.com/chopin-ballade-no-1-in-g-minor-op-23-analysis</a:t>
            </a:r>
            <a:r>
              <a:rPr lang="fr-FR" dirty="0" smtClean="0">
                <a:hlinkClick r:id="rId4"/>
              </a:rPr>
              <a:t>/</a:t>
            </a:r>
            <a:endParaRPr lang="fr-FR" dirty="0" smtClean="0"/>
          </a:p>
          <a:p>
            <a:pPr lvl="1"/>
            <a:r>
              <a:rPr lang="fr-FR" dirty="0">
                <a:hlinkClick r:id="rId5"/>
              </a:rPr>
              <a:t>https://</a:t>
            </a:r>
            <a:r>
              <a:rPr lang="fr-FR" dirty="0" smtClean="0">
                <a:hlinkClick r:id="rId5"/>
              </a:rPr>
              <a:t>www.youtube.com/watch?v=p-1o8j3gp8U</a:t>
            </a:r>
            <a:endParaRPr lang="fr-FR" dirty="0" smtClean="0"/>
          </a:p>
          <a:p>
            <a:pPr lvl="1"/>
            <a:endParaRPr lang="fr-FR" dirty="0" smtClean="0"/>
          </a:p>
          <a:p>
            <a:pPr lvl="1"/>
            <a:endParaRPr lang="fr-FR" dirty="0" smtClean="0"/>
          </a:p>
          <a:p>
            <a:pPr lvl="1"/>
            <a:endParaRPr lang="fr-FR" dirty="0" smtClean="0"/>
          </a:p>
          <a:p>
            <a:pPr lvl="1"/>
            <a:endParaRPr lang="fr-FR" dirty="0"/>
          </a:p>
        </p:txBody>
      </p:sp>
    </p:spTree>
    <p:extLst>
      <p:ext uri="{BB962C8B-B14F-4D97-AF65-F5344CB8AC3E}">
        <p14:creationId xmlns:p14="http://schemas.microsoft.com/office/powerpoint/2010/main" val="1270629245"/>
      </p:ext>
    </p:extLst>
  </p:cSld>
  <p:clrMapOvr>
    <a:masterClrMapping/>
  </p:clrMapOvr>
  <p:transition spd="slow">
    <p:fade/>
  </p:transition>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1183</Words>
  <Application>Microsoft Office PowerPoint</Application>
  <PresentationFormat>Grand écran</PresentationFormat>
  <Paragraphs>105</Paragraphs>
  <Slides>19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Calibri Light</vt:lpstr>
      <vt:lpstr>Thème Office</vt:lpstr>
      <vt:lpstr>      La ballade,  du XVIIIème au XIXème siècle </vt:lpstr>
      <vt:lpstr>Définition et Présentation historique</vt:lpstr>
      <vt:lpstr>Définition et évolution au cours des siècles:</vt:lpstr>
      <vt:lpstr>La ballade médiévale</vt:lpstr>
      <vt:lpstr>La ballade du 18ème et du 19ème siècle</vt:lpstr>
      <vt:lpstr>La ballade instrumentale du 19ème siècle</vt:lpstr>
      <vt:lpstr> Les différentes structures de la ballade</vt:lpstr>
      <vt:lpstr>Compositeurs, genres explorés et œuvres majeures</vt:lpstr>
      <vt:lpstr>Etude d’une pièce  Frédéric Chopin 1ère ballade en sol mineur pour piano</vt:lpstr>
      <vt:lpstr>Présentation de la pièce</vt:lpstr>
      <vt:lpstr>Analyse de la pièce Plan général de la pièce: forme sonate (structure type) ou en arche (symétrie tonale)</vt:lpstr>
      <vt:lpstr>Points d’intérêts retrouvés INTRO largo: [m1 à m7]</vt:lpstr>
      <vt:lpstr>THEME A moderato: [m8 à m34]</vt:lpstr>
      <vt:lpstr>THEME B meno mosso: B1 [m67 à m82]</vt:lpstr>
      <vt:lpstr>THEME B meno mosso: B2 [m82 à m93]</vt:lpstr>
      <vt:lpstr>THEME A’ a tempo: [m94 à m105]</vt:lpstr>
      <vt:lpstr>PONT 2 (ou C) sempre piu animato puis scherzando: [m125 à m164]</vt:lpstr>
      <vt:lpstr>CODA (ouD) presto con fuco: [m208 à la fin]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ballade,  du XVIIIème au XIXème siècle</dc:title>
  <dc:creator>Hélène txr</dc:creator>
  <cp:lastModifiedBy>Hélène txr</cp:lastModifiedBy>
  <cp:revision>40</cp:revision>
  <dcterms:created xsi:type="dcterms:W3CDTF">2026-04-23T15:48:37Z</dcterms:created>
  <dcterms:modified xsi:type="dcterms:W3CDTF">2026-05-29T12:35:38Z</dcterms:modified>
</cp:coreProperties>
</file>